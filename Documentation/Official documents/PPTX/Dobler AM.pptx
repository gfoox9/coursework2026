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3" r:id="rId10"/>
    <p:sldId id="272" r:id="rId11"/>
    <p:sldId id="264" r:id="rId12"/>
    <p:sldId id="265" r:id="rId13"/>
    <p:sldId id="268" r:id="rId14"/>
    <p:sldId id="269" r:id="rId15"/>
    <p:sldId id="273" r:id="rId16"/>
    <p:sldId id="270" r:id="rId17"/>
    <p:sldId id="271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45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34" autoAdjust="0"/>
    <p:restoredTop sz="94660"/>
  </p:normalViewPr>
  <p:slideViewPr>
    <p:cSldViewPr>
      <p:cViewPr varScale="1">
        <p:scale>
          <a:sx n="107" d="100"/>
          <a:sy n="107" d="100"/>
        </p:scale>
        <p:origin x="432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6767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83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6767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83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6767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83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6767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83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6767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83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5445" y="212852"/>
            <a:ext cx="8881109" cy="1046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974545"/>
            <a:ext cx="7115809" cy="4029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15802" y="6294450"/>
            <a:ext cx="577215" cy="404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76767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83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32459" y="4451730"/>
            <a:ext cx="3691941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Научный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руководитель: </a:t>
            </a:r>
            <a:r>
              <a:rPr lang="ru-RU" sz="2200" dirty="0">
                <a:latin typeface="Calibri"/>
                <a:cs typeface="Calibri"/>
              </a:rPr>
              <a:t>Доцент кафедры СП, к.ф.-м.н.</a:t>
            </a:r>
            <a:r>
              <a:rPr sz="2200" spc="-25" dirty="0" smtClean="0">
                <a:latin typeface="Calibri"/>
                <a:cs typeface="Calibri"/>
              </a:rPr>
              <a:t>, </a:t>
            </a:r>
            <a:r>
              <a:rPr lang="ru-RU" sz="2200" dirty="0" smtClean="0">
                <a:latin typeface="Calibri"/>
                <a:cs typeface="Calibri"/>
              </a:rPr>
              <a:t>Я</a:t>
            </a:r>
            <a:r>
              <a:rPr sz="2200" dirty="0" smtClean="0">
                <a:latin typeface="Calibri"/>
                <a:cs typeface="Calibri"/>
              </a:rPr>
              <a:t>.</a:t>
            </a:r>
            <a:r>
              <a:rPr lang="ru-RU" sz="2200" dirty="0" smtClean="0">
                <a:latin typeface="Calibri"/>
                <a:cs typeface="Calibri"/>
              </a:rPr>
              <a:t>А</a:t>
            </a:r>
            <a:r>
              <a:rPr sz="2200" dirty="0" smtClean="0">
                <a:latin typeface="Calibri"/>
                <a:cs typeface="Calibri"/>
              </a:rPr>
              <a:t>.</a:t>
            </a:r>
            <a:r>
              <a:rPr sz="2200" spc="-65" dirty="0" smtClean="0">
                <a:latin typeface="Calibri"/>
                <a:cs typeface="Calibri"/>
              </a:rPr>
              <a:t> </a:t>
            </a:r>
            <a:r>
              <a:rPr lang="ru-RU" sz="2200" spc="-10" dirty="0" smtClean="0">
                <a:latin typeface="Calibri"/>
                <a:cs typeface="Calibri"/>
              </a:rPr>
              <a:t>Краева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83220" y="4451730"/>
            <a:ext cx="3943350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Calibri"/>
                <a:cs typeface="Calibri"/>
              </a:rPr>
              <a:t>Автор: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spc="-10" dirty="0" err="1" smtClean="0">
                <a:latin typeface="Calibri"/>
                <a:cs typeface="Calibri"/>
              </a:rPr>
              <a:t>студент</a:t>
            </a:r>
            <a:r>
              <a:rPr sz="2200" spc="-70" dirty="0" smtClean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группы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ЕТ-302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ru-RU" sz="2200" dirty="0" smtClean="0">
                <a:latin typeface="Calibri"/>
                <a:cs typeface="Calibri"/>
              </a:rPr>
              <a:t>А.М. Доблер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26919" y="395096"/>
            <a:ext cx="7598409" cy="1092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2384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МИНИСТЕРСТВО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НАУКИ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И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ВЫСШЕГО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ОБРАЗОВАНИЯ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РОССИЙСКОЙ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ФЕДЕРАЦИИ</a:t>
            </a:r>
            <a:endParaRPr sz="1400">
              <a:latin typeface="Calibri"/>
              <a:cs typeface="Calibri"/>
            </a:endParaRPr>
          </a:p>
          <a:p>
            <a:pPr marR="28575" algn="ctr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Федеральное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государственное </a:t>
            </a:r>
            <a:r>
              <a:rPr sz="1400" dirty="0">
                <a:latin typeface="Calibri"/>
                <a:cs typeface="Calibri"/>
              </a:rPr>
              <a:t>автономное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образовательное учреждение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высшего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образования</a:t>
            </a:r>
            <a:endParaRPr sz="140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«Южно-</a:t>
            </a:r>
            <a:r>
              <a:rPr sz="1400" spc="-10" dirty="0">
                <a:latin typeface="Calibri"/>
                <a:cs typeface="Calibri"/>
              </a:rPr>
              <a:t>Уральский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государственный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университет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(национальный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исследовательский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университет)» </a:t>
            </a:r>
            <a:r>
              <a:rPr sz="1400" dirty="0">
                <a:latin typeface="Calibri"/>
                <a:cs typeface="Calibri"/>
              </a:rPr>
              <a:t>Институт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естественных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и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точных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наук</a:t>
            </a:r>
            <a:endParaRPr sz="1400">
              <a:latin typeface="Calibri"/>
              <a:cs typeface="Calibri"/>
            </a:endParaRPr>
          </a:p>
          <a:p>
            <a:pPr marL="10160"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Кафедра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системного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программирования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94528" y="6070803"/>
            <a:ext cx="220408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Челябинск,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2026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г.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462087" y="3635227"/>
            <a:ext cx="92678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zh-CN" sz="2200" dirty="0"/>
              <a:t>02.03.02 «Фундаментальная информатика и информационные технологии»</a:t>
            </a:r>
          </a:p>
        </p:txBody>
      </p:sp>
      <p:sp>
        <p:nvSpPr>
          <p:cNvPr id="8" name="Заголовок 1"/>
          <p:cNvSpPr txBox="1">
            <a:spLocks noChangeArrowheads="1"/>
          </p:cNvSpPr>
          <p:nvPr/>
        </p:nvSpPr>
        <p:spPr>
          <a:xfrm>
            <a:off x="1219200" y="1905000"/>
            <a:ext cx="9753600" cy="1344612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altLang="zh-CN" sz="3600" b="1" dirty="0" smtClean="0">
                <a:latin typeface="+mn-lt"/>
                <a:cs typeface="等线 Light"/>
              </a:rPr>
              <a:t>Разработка приложения для решения задач по идентификации объектов на изображениях </a:t>
            </a:r>
            <a:endParaRPr lang="ru-RU" altLang="zh-CN" sz="3600" b="1" dirty="0">
              <a:latin typeface="+mn-lt"/>
              <a:cs typeface="等线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1591" y="228600"/>
            <a:ext cx="6878955" cy="973419"/>
          </a:xfrm>
          <a:prstGeom prst="rect">
            <a:avLst/>
          </a:prstGeom>
        </p:spPr>
        <p:txBody>
          <a:bodyPr vert="horz" wrap="square" lIns="0" tIns="4153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ЦЕЛЬ</a:t>
            </a:r>
            <a:r>
              <a:rPr spc="-105" dirty="0"/>
              <a:t> </a:t>
            </a:r>
            <a:r>
              <a:rPr dirty="0"/>
              <a:t>И</a:t>
            </a:r>
            <a:r>
              <a:rPr spc="-85" dirty="0"/>
              <a:t> </a:t>
            </a:r>
            <a:r>
              <a:rPr spc="-30" dirty="0" smtClean="0"/>
              <a:t>ЗАДАЧИ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916937" y="1334488"/>
            <a:ext cx="10208261" cy="5059718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>
              <a:lnSpc>
                <a:spcPts val="2810"/>
              </a:lnSpc>
              <a:spcBef>
                <a:spcPts val="455"/>
              </a:spcBef>
            </a:pPr>
            <a:r>
              <a:rPr lang="ru-RU" sz="3200" b="1" dirty="0" smtClean="0">
                <a:latin typeface="Calibri"/>
                <a:cs typeface="Calibri"/>
              </a:rPr>
              <a:t>Цель работы</a:t>
            </a:r>
          </a:p>
          <a:p>
            <a:pPr marL="12700" marR="5080">
              <a:lnSpc>
                <a:spcPts val="2810"/>
              </a:lnSpc>
              <a:spcBef>
                <a:spcPts val="455"/>
              </a:spcBef>
            </a:pPr>
            <a:r>
              <a:rPr lang="ru-RU" sz="2200" dirty="0" smtClean="0">
                <a:latin typeface="Calibri"/>
                <a:cs typeface="Calibri"/>
              </a:rPr>
              <a:t>Разработать десктопное приложение для решения задач по идентификации и детекции объектов на изображениях</a:t>
            </a:r>
            <a:r>
              <a:rPr sz="2200" spc="-10" dirty="0" smtClean="0">
                <a:latin typeface="Calibri"/>
                <a:cs typeface="Calibri"/>
              </a:rPr>
              <a:t>.</a:t>
            </a:r>
            <a:endParaRPr lang="ru-RU" sz="2200" spc="-10" dirty="0" smtClean="0">
              <a:latin typeface="Calibri"/>
              <a:cs typeface="Calibri"/>
            </a:endParaRPr>
          </a:p>
          <a:p>
            <a:pPr marL="12700" marR="5080">
              <a:lnSpc>
                <a:spcPts val="2810"/>
              </a:lnSpc>
              <a:spcBef>
                <a:spcPts val="455"/>
              </a:spcBef>
            </a:pPr>
            <a:r>
              <a:rPr lang="ru-RU" sz="3200" b="1" spc="-10" dirty="0" smtClean="0">
                <a:latin typeface="Calibri"/>
                <a:cs typeface="Calibri"/>
              </a:rPr>
              <a:t>Задачи:</a:t>
            </a:r>
            <a:endParaRPr sz="3200" b="1" dirty="0">
              <a:latin typeface="Calibri"/>
              <a:cs typeface="Calibri"/>
            </a:endParaRPr>
          </a:p>
          <a:p>
            <a:pPr marL="354330" indent="-341630">
              <a:lnSpc>
                <a:spcPct val="100000"/>
              </a:lnSpc>
              <a:spcBef>
                <a:spcPts val="2035"/>
              </a:spcBef>
              <a:buAutoNum type="arabicPeriod"/>
              <a:tabLst>
                <a:tab pos="354330" algn="l"/>
              </a:tabLst>
            </a:pPr>
            <a:r>
              <a:rPr lang="ru-RU" sz="2200" dirty="0" smtClean="0">
                <a:latin typeface="Calibri"/>
                <a:cs typeface="Calibri"/>
              </a:rPr>
              <a:t>Провести анализ предметной области и обзор существующих решений</a:t>
            </a:r>
            <a:r>
              <a:rPr sz="2200" spc="-10" dirty="0" smtClean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354330" indent="-341630">
              <a:lnSpc>
                <a:spcPct val="100000"/>
              </a:lnSpc>
              <a:spcBef>
                <a:spcPts val="2555"/>
              </a:spcBef>
              <a:buAutoNum type="arabicPeriod"/>
              <a:tabLst>
                <a:tab pos="354330" algn="l"/>
              </a:tabLst>
            </a:pPr>
            <a:r>
              <a:rPr lang="ru-RU" sz="2200" dirty="0" smtClean="0">
                <a:latin typeface="Calibri"/>
                <a:cs typeface="Calibri"/>
              </a:rPr>
              <a:t>Сформулировать требования к десктопному приложению</a:t>
            </a:r>
            <a:r>
              <a:rPr sz="2200" spc="-10" dirty="0" smtClean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354330" indent="-341630">
              <a:lnSpc>
                <a:spcPct val="100000"/>
              </a:lnSpc>
              <a:spcBef>
                <a:spcPts val="2570"/>
              </a:spcBef>
              <a:buAutoNum type="arabicPeriod"/>
              <a:tabLst>
                <a:tab pos="354330" algn="l"/>
              </a:tabLst>
            </a:pPr>
            <a:r>
              <a:rPr lang="ru-RU" sz="2200" dirty="0" smtClean="0">
                <a:latin typeface="Calibri"/>
                <a:cs typeface="Calibri"/>
              </a:rPr>
              <a:t>Спроектировать</a:t>
            </a:r>
            <a:r>
              <a:rPr sz="2200" spc="-35" dirty="0" smtClean="0">
                <a:latin typeface="Calibri"/>
                <a:cs typeface="Calibri"/>
              </a:rPr>
              <a:t> </a:t>
            </a:r>
            <a:r>
              <a:rPr lang="ru-RU" sz="2200" dirty="0" smtClean="0">
                <a:latin typeface="Calibri"/>
                <a:cs typeface="Calibri"/>
              </a:rPr>
              <a:t>десктопное приложение</a:t>
            </a:r>
            <a:r>
              <a:rPr sz="2200" spc="-10" dirty="0" smtClean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354965" indent="-342265">
              <a:spcBef>
                <a:spcPts val="2555"/>
              </a:spcBef>
              <a:buFontTx/>
              <a:buAutoNum type="arabicPeriod"/>
              <a:tabLst>
                <a:tab pos="354965" algn="l"/>
              </a:tabLst>
            </a:pPr>
            <a:r>
              <a:rPr lang="ru-RU" sz="2200" dirty="0" smtClean="0">
                <a:latin typeface="Calibri"/>
                <a:cs typeface="Calibri"/>
              </a:rPr>
              <a:t>Реализовать</a:t>
            </a:r>
            <a:r>
              <a:rPr lang="ru-RU" sz="2200" spc="-35" dirty="0" smtClean="0">
                <a:latin typeface="Calibri"/>
                <a:cs typeface="Calibri"/>
              </a:rPr>
              <a:t> </a:t>
            </a:r>
            <a:r>
              <a:rPr lang="ru-RU" sz="2200" dirty="0" smtClean="0">
                <a:latin typeface="Calibri"/>
                <a:cs typeface="Calibri"/>
              </a:rPr>
              <a:t>десктопное приложение</a:t>
            </a:r>
            <a:r>
              <a:rPr sz="2200" spc="-10" dirty="0" smtClean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354330" indent="-341630">
              <a:lnSpc>
                <a:spcPct val="100000"/>
              </a:lnSpc>
              <a:spcBef>
                <a:spcPts val="2560"/>
              </a:spcBef>
              <a:buAutoNum type="arabicPeriod"/>
              <a:tabLst>
                <a:tab pos="354330" algn="l"/>
              </a:tabLst>
            </a:pPr>
            <a:r>
              <a:rPr lang="ru-RU" sz="2200" dirty="0" smtClean="0">
                <a:latin typeface="Calibri"/>
                <a:cs typeface="Calibri"/>
              </a:rPr>
              <a:t>Провести тестирование разработанного приложения</a:t>
            </a:r>
            <a:r>
              <a:rPr sz="2200" spc="-10" dirty="0" smtClean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11353800" y="6422781"/>
            <a:ext cx="461645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2</a:t>
            </a:r>
            <a:r>
              <a:rPr spc="-20" dirty="0" smtClean="0">
                <a:solidFill>
                  <a:srgbClr val="767676"/>
                </a:solidFill>
                <a:latin typeface="Calibri"/>
                <a:cs typeface="Calibri"/>
              </a:rPr>
              <a:t>/14</a:t>
            </a:r>
            <a:endParaRPr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31850" y="6378218"/>
            <a:ext cx="442595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https://github.com/GFooX9/CourseWork2026</a:t>
            </a:r>
            <a:endParaRPr lang="ru-RU"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353800" y="6422781"/>
            <a:ext cx="461645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20" dirty="0" smtClean="0">
                <a:solidFill>
                  <a:srgbClr val="767676"/>
                </a:solidFill>
                <a:latin typeface="Calibri"/>
                <a:cs typeface="Calibri"/>
              </a:rPr>
              <a:t>3/14</a:t>
            </a:r>
            <a:endParaRPr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4200" rIns="0" bIns="0" rtlCol="0">
            <a:spAutoFit/>
          </a:bodyPr>
          <a:lstStyle/>
          <a:p>
            <a:pPr marL="155638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АКТУАЛЬНОСТЬ</a:t>
            </a:r>
            <a:r>
              <a:rPr spc="-130" dirty="0"/>
              <a:t> </a:t>
            </a:r>
            <a:r>
              <a:rPr spc="-35" dirty="0"/>
              <a:t>РАЗРАБОТКИ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974545"/>
            <a:ext cx="10136505" cy="2845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lang="ru-RU" sz="2200" spc="-10" dirty="0" smtClean="0">
                <a:latin typeface="Calibri"/>
                <a:cs typeface="Calibri"/>
              </a:rPr>
              <a:t>Технологический фактор: Экспоненциальный рост визуальных данных требует автоматизации детекции в реальном времени.</a:t>
            </a:r>
            <a:endParaRPr sz="2200" dirty="0">
              <a:latin typeface="Calibri"/>
              <a:cs typeface="Calibri"/>
            </a:endParaRPr>
          </a:p>
          <a:p>
            <a:pPr marL="241300" marR="498475" indent="-228600">
              <a:lnSpc>
                <a:spcPct val="15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lang="ru-RU" sz="2200" dirty="0" smtClean="0">
                <a:latin typeface="Calibri"/>
                <a:cs typeface="Calibri"/>
              </a:rPr>
              <a:t>Прикладной фактор: Необходимость адаптации SOTA-моделей (YOLO) к узкоспециализированным задачам</a:t>
            </a:r>
            <a:r>
              <a:rPr lang="ru-RU" sz="220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555"/>
              </a:spcBef>
              <a:buFont typeface="Arial MT"/>
              <a:buChar char="•"/>
              <a:tabLst>
                <a:tab pos="241300" algn="l"/>
              </a:tabLst>
            </a:pPr>
            <a:r>
              <a:rPr lang="ru-RU" sz="2200" dirty="0" smtClean="0">
                <a:latin typeface="Calibri"/>
                <a:cs typeface="Calibri"/>
              </a:rPr>
              <a:t>Инженерный фактор: Внедрение сложных ИИ-алгоритмов невозможно без создания интуитивного и автономного GUI.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31850" y="6378218"/>
            <a:ext cx="442595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https://github.com/GFooX9/CourseWork2026</a:t>
            </a:r>
            <a:endParaRPr lang="ru-RU"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7961" y="331470"/>
            <a:ext cx="36563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ОБЗОР</a:t>
            </a:r>
            <a:r>
              <a:rPr spc="-105" dirty="0"/>
              <a:t> </a:t>
            </a:r>
            <a:r>
              <a:rPr spc="-10" dirty="0"/>
              <a:t>АНАЛОГОВ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950814"/>
              </p:ext>
            </p:extLst>
          </p:nvPr>
        </p:nvGraphicFramePr>
        <p:xfrm>
          <a:off x="311150" y="1112011"/>
          <a:ext cx="11548110" cy="42605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7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marL="62039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Критерий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388" indent="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lang="en-US" sz="2400" b="1" spc="-10" dirty="0" err="1" smtClean="0">
                          <a:latin typeface="Calibri"/>
                          <a:cs typeface="Calibri"/>
                        </a:rPr>
                        <a:t>Roboflow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lang="en-US" sz="2400" b="1" spc="-10" dirty="0" smtClean="0">
                          <a:latin typeface="Calibri"/>
                          <a:cs typeface="Calibri"/>
                        </a:rPr>
                        <a:t>Google Lens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8288" indent="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lang="en-US" sz="2400" b="1" spc="-10" dirty="0" err="1" smtClean="0">
                          <a:latin typeface="Calibri"/>
                          <a:cs typeface="Calibri"/>
                        </a:rPr>
                        <a:t>Detectron</a:t>
                      </a:r>
                      <a:r>
                        <a:rPr lang="en-US" sz="2400" b="1" spc="-10" dirty="0" smtClean="0">
                          <a:latin typeface="Calibri"/>
                          <a:cs typeface="Calibri"/>
                        </a:rPr>
                        <a:t> 2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388" indent="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lang="en-US" sz="2400" b="1" spc="-10" dirty="0" smtClean="0">
                          <a:latin typeface="Calibri"/>
                          <a:cs typeface="Calibri"/>
                        </a:rPr>
                        <a:t>Vision Pro AI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63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lang="ru-RU" sz="2400" spc="-10" dirty="0" smtClean="0">
                          <a:latin typeface="Calibri"/>
                          <a:cs typeface="Calibri"/>
                        </a:rPr>
                        <a:t>Автономная локальная работа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lang="ru-RU" sz="2400" spc="-25" dirty="0" smtClean="0">
                          <a:latin typeface="Calibri"/>
                          <a:cs typeface="Calibri"/>
                        </a:rPr>
                        <a:t>Нет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4545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400" spc="-25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Нет</a:t>
                      </a: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4545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lang="ru-RU" sz="2400" spc="-25" dirty="0" smtClean="0">
                          <a:latin typeface="Calibri"/>
                          <a:cs typeface="Calibri"/>
                        </a:rPr>
                        <a:t>Да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Да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1894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lang="ru-RU" sz="2400" spc="-10" dirty="0" smtClean="0">
                          <a:latin typeface="Calibri"/>
                          <a:cs typeface="Calibri"/>
                        </a:rPr>
                        <a:t>Графический</a:t>
                      </a:r>
                      <a:r>
                        <a:rPr lang="ru-RU" sz="2400" spc="-10" baseline="0" dirty="0" smtClean="0">
                          <a:latin typeface="Calibri"/>
                          <a:cs typeface="Calibri"/>
                        </a:rPr>
                        <a:t> интерфейс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lang="ru-RU" sz="2400" spc="-25" dirty="0" smtClean="0">
                          <a:latin typeface="Calibri"/>
                          <a:cs typeface="Calibri"/>
                        </a:rPr>
                        <a:t>Да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lang="ru-RU" sz="2400" spc="-25" dirty="0" smtClean="0">
                          <a:latin typeface="Calibri"/>
                          <a:cs typeface="Calibri"/>
                        </a:rPr>
                        <a:t>Да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lang="ru-RU" sz="2400" spc="-25" dirty="0" smtClean="0">
                          <a:latin typeface="Calibri"/>
                          <a:cs typeface="Calibri"/>
                        </a:rPr>
                        <a:t>Нет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4545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Да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331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lang="ru-RU" sz="2400" spc="-10" dirty="0" smtClean="0">
                          <a:latin typeface="Calibri"/>
                          <a:cs typeface="Calibri"/>
                        </a:rPr>
                        <a:t>Кастомная детекция объектов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Да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lang="ru-RU" sz="2400" spc="-25" dirty="0" smtClean="0">
                          <a:latin typeface="Calibri"/>
                          <a:cs typeface="Calibri"/>
                        </a:rPr>
                        <a:t>Нет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4545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Да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Да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409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ru-RU" sz="2400" spc="-10" dirty="0" smtClean="0">
                          <a:latin typeface="Calibri"/>
                          <a:cs typeface="Calibri"/>
                        </a:rPr>
                        <a:t>Локальное</a:t>
                      </a:r>
                      <a:r>
                        <a:rPr lang="ru-RU" sz="2400" spc="-10" baseline="0" dirty="0" smtClean="0">
                          <a:latin typeface="Calibri"/>
                          <a:cs typeface="Calibri"/>
                        </a:rPr>
                        <a:t> сохранение датасетов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ru-RU" sz="2400" spc="-25" dirty="0" smtClean="0">
                          <a:latin typeface="Calibri"/>
                          <a:cs typeface="Calibri"/>
                        </a:rPr>
                        <a:t>Нет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4545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ru-RU" sz="2400" spc="-25" dirty="0" smtClean="0">
                          <a:latin typeface="Calibri"/>
                          <a:cs typeface="Calibri"/>
                        </a:rPr>
                        <a:t>Нет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4545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Да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Да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831850" y="6378218"/>
            <a:ext cx="442595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https://github.com/GFooX9/CourseWork2026</a:t>
            </a:r>
            <a:endParaRPr lang="ru-RU"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11368405" y="6422781"/>
            <a:ext cx="461645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4</a:t>
            </a:r>
            <a:r>
              <a:rPr spc="-20" dirty="0" smtClean="0">
                <a:solidFill>
                  <a:srgbClr val="767676"/>
                </a:solidFill>
                <a:latin typeface="Calibri"/>
                <a:cs typeface="Calibri"/>
              </a:rPr>
              <a:t>/14</a:t>
            </a:r>
            <a:endParaRPr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ДИАГРАММА</a:t>
            </a:r>
            <a:r>
              <a:rPr spc="-150" dirty="0"/>
              <a:t> </a:t>
            </a:r>
            <a:r>
              <a:rPr spc="-10" dirty="0"/>
              <a:t>ВАРИАНТОВ</a:t>
            </a:r>
            <a:r>
              <a:rPr spc="-140" dirty="0"/>
              <a:t> </a:t>
            </a:r>
            <a:r>
              <a:rPr spc="-10" dirty="0"/>
              <a:t>ИСПОЛЬЗОВАНИЯ</a:t>
            </a:r>
          </a:p>
        </p:txBody>
      </p:sp>
      <p:pic>
        <p:nvPicPr>
          <p:cNvPr id="3" name="object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997276"/>
            <a:ext cx="5178821" cy="5542524"/>
          </a:xfrm>
          <a:prstGeom prst="rect">
            <a:avLst/>
          </a:prstGeom>
        </p:spPr>
      </p:pic>
      <p:sp>
        <p:nvSpPr>
          <p:cNvPr id="5" name="object 4"/>
          <p:cNvSpPr txBox="1"/>
          <p:nvPr/>
        </p:nvSpPr>
        <p:spPr>
          <a:xfrm>
            <a:off x="11353800" y="6422781"/>
            <a:ext cx="461645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5</a:t>
            </a:r>
            <a:r>
              <a:rPr spc="-20" dirty="0" smtClean="0">
                <a:solidFill>
                  <a:srgbClr val="767676"/>
                </a:solidFill>
                <a:latin typeface="Calibri"/>
                <a:cs typeface="Calibri"/>
              </a:rPr>
              <a:t>/14</a:t>
            </a:r>
            <a:endParaRPr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0105" rIns="0" bIns="0" rtlCol="0">
            <a:spAutoFit/>
          </a:bodyPr>
          <a:lstStyle/>
          <a:p>
            <a:pPr marL="149542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ДИАГРАММА</a:t>
            </a:r>
            <a:r>
              <a:rPr spc="-155" dirty="0"/>
              <a:t> </a:t>
            </a:r>
            <a:r>
              <a:rPr spc="-10" dirty="0"/>
              <a:t>КОМПОНЕНТОВ</a:t>
            </a:r>
          </a:p>
        </p:txBody>
      </p:sp>
      <p:sp>
        <p:nvSpPr>
          <p:cNvPr id="5" name="object 4"/>
          <p:cNvSpPr txBox="1"/>
          <p:nvPr/>
        </p:nvSpPr>
        <p:spPr>
          <a:xfrm>
            <a:off x="11353800" y="6422781"/>
            <a:ext cx="461645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6</a:t>
            </a:r>
            <a:r>
              <a:rPr spc="-20" dirty="0" smtClean="0">
                <a:solidFill>
                  <a:srgbClr val="767676"/>
                </a:solidFill>
                <a:latin typeface="Calibri"/>
                <a:cs typeface="Calibri"/>
              </a:rPr>
              <a:t>/14</a:t>
            </a:r>
            <a:endParaRPr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445" y="1272474"/>
            <a:ext cx="8631880" cy="49893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3725" y="104647"/>
            <a:ext cx="59239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ДИАГРАММА</a:t>
            </a:r>
            <a:r>
              <a:rPr spc="-135" dirty="0"/>
              <a:t> </a:t>
            </a:r>
            <a:r>
              <a:rPr spc="-10" dirty="0"/>
              <a:t>ДЕЯТЕЛЬНОСТИ</a:t>
            </a:r>
          </a:p>
        </p:txBody>
      </p:sp>
      <p:pic>
        <p:nvPicPr>
          <p:cNvPr id="3" name="object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282" y="689539"/>
            <a:ext cx="8686800" cy="5746345"/>
          </a:xfrm>
          <a:prstGeom prst="rect">
            <a:avLst/>
          </a:prstGeom>
        </p:spPr>
      </p:pic>
      <p:sp>
        <p:nvSpPr>
          <p:cNvPr id="5" name="object 4"/>
          <p:cNvSpPr txBox="1"/>
          <p:nvPr/>
        </p:nvSpPr>
        <p:spPr>
          <a:xfrm>
            <a:off x="11353800" y="6422781"/>
            <a:ext cx="461645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7</a:t>
            </a:r>
            <a:r>
              <a:rPr spc="-20" dirty="0" smtClean="0">
                <a:solidFill>
                  <a:srgbClr val="767676"/>
                </a:solidFill>
                <a:latin typeface="Calibri"/>
                <a:cs typeface="Calibri"/>
              </a:rPr>
              <a:t>/14</a:t>
            </a:r>
            <a:endParaRPr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79" rIns="0" bIns="0" rtlCol="0">
            <a:spAutoFit/>
          </a:bodyPr>
          <a:lstStyle/>
          <a:p>
            <a:pPr marL="658495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ДИАГРАММА</a:t>
            </a:r>
            <a:r>
              <a:rPr spc="-135" dirty="0"/>
              <a:t> </a:t>
            </a:r>
            <a:r>
              <a:rPr spc="-10" dirty="0"/>
              <a:t>ПОСЛЕДОВАТЕЛЬНОСТИ</a:t>
            </a:r>
          </a:p>
        </p:txBody>
      </p:sp>
      <p:pic>
        <p:nvPicPr>
          <p:cNvPr id="3" name="object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066800"/>
            <a:ext cx="7467601" cy="5355981"/>
          </a:xfrm>
          <a:prstGeom prst="rect">
            <a:avLst/>
          </a:prstGeom>
        </p:spPr>
      </p:pic>
      <p:sp>
        <p:nvSpPr>
          <p:cNvPr id="5" name="object 4"/>
          <p:cNvSpPr txBox="1"/>
          <p:nvPr/>
        </p:nvSpPr>
        <p:spPr>
          <a:xfrm>
            <a:off x="11353800" y="6422781"/>
            <a:ext cx="461645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8</a:t>
            </a:r>
            <a:r>
              <a:rPr spc="-20" dirty="0" smtClean="0">
                <a:solidFill>
                  <a:srgbClr val="767676"/>
                </a:solidFill>
                <a:latin typeface="Calibri"/>
                <a:cs typeface="Calibri"/>
              </a:rPr>
              <a:t>/14</a:t>
            </a:r>
            <a:endParaRPr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4200" rIns="0" bIns="0" rtlCol="0">
            <a:spAutoFit/>
          </a:bodyPr>
          <a:lstStyle/>
          <a:p>
            <a:pPr marL="211455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СРЕДСТВА</a:t>
            </a:r>
            <a:r>
              <a:rPr spc="-130" dirty="0"/>
              <a:t> </a:t>
            </a:r>
            <a:r>
              <a:rPr spc="-40" dirty="0"/>
              <a:t>РАЗРАБОТКИ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2645" y="1259027"/>
            <a:ext cx="10972800" cy="47352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5"/>
              </a:spcBef>
              <a:tabLst>
                <a:tab pos="241300" algn="l"/>
              </a:tabLst>
            </a:pPr>
            <a:r>
              <a:rPr lang="ru-RU" sz="2400" dirty="0" smtClean="0">
                <a:latin typeface="Calibri"/>
                <a:cs typeface="Calibri"/>
              </a:rPr>
              <a:t>Среда разработки</a:t>
            </a:r>
            <a:r>
              <a:rPr lang="en-US" sz="2400" dirty="0" smtClean="0">
                <a:latin typeface="Calibri"/>
                <a:cs typeface="Calibri"/>
              </a:rPr>
              <a:t> </a:t>
            </a:r>
            <a:r>
              <a:rPr lang="ru-RU" sz="2400" dirty="0" smtClean="0">
                <a:latin typeface="Calibri"/>
                <a:cs typeface="Calibri"/>
              </a:rPr>
              <a:t>- </a:t>
            </a:r>
            <a:r>
              <a:rPr lang="en-US" sz="2400" dirty="0" err="1" smtClean="0">
                <a:latin typeface="Calibri"/>
                <a:cs typeface="Calibri"/>
              </a:rPr>
              <a:t>JetBrains</a:t>
            </a:r>
            <a:r>
              <a:rPr lang="en-US" sz="2400" dirty="0" smtClean="0">
                <a:latin typeface="Calibri"/>
                <a:cs typeface="Calibri"/>
              </a:rPr>
              <a:t> </a:t>
            </a:r>
            <a:r>
              <a:rPr lang="en-US" sz="2400" dirty="0" err="1" smtClean="0">
                <a:latin typeface="Calibri"/>
                <a:cs typeface="Calibri"/>
              </a:rPr>
              <a:t>PyCharm</a:t>
            </a:r>
            <a:r>
              <a:rPr lang="ru-RU" sz="2400" dirty="0">
                <a:latin typeface="Calibri"/>
                <a:cs typeface="Calibri"/>
              </a:rPr>
              <a:t/>
            </a:r>
            <a:br>
              <a:rPr lang="ru-RU" sz="2400" dirty="0">
                <a:latin typeface="Calibri"/>
                <a:cs typeface="Calibri"/>
              </a:rPr>
            </a:br>
            <a:r>
              <a:rPr lang="ru-RU" sz="2400" dirty="0" smtClean="0">
                <a:latin typeface="Calibri"/>
                <a:cs typeface="Calibri"/>
              </a:rPr>
              <a:t>Язык программирования - </a:t>
            </a:r>
            <a:r>
              <a:rPr lang="en-US" sz="2400" dirty="0" smtClean="0">
                <a:latin typeface="Calibri"/>
                <a:cs typeface="Calibri"/>
              </a:rPr>
              <a:t>Python v3.12.5 </a:t>
            </a:r>
            <a:endParaRPr lang="ru-RU" sz="2400" dirty="0" smtClean="0">
              <a:latin typeface="Calibri"/>
              <a:cs typeface="Calibri"/>
            </a:endParaRPr>
          </a:p>
          <a:p>
            <a:pPr marL="12700">
              <a:lnSpc>
                <a:spcPct val="150000"/>
              </a:lnSpc>
              <a:spcBef>
                <a:spcPts val="105"/>
              </a:spcBef>
              <a:tabLst>
                <a:tab pos="241300" algn="l"/>
              </a:tabLst>
            </a:pPr>
            <a:r>
              <a:rPr lang="ru-RU" sz="2400" dirty="0" smtClean="0">
                <a:latin typeface="Calibri"/>
                <a:cs typeface="Calibri"/>
              </a:rPr>
              <a:t>Библиотеки используемые в проекте:</a:t>
            </a:r>
            <a:endParaRPr lang="en-US" sz="2400" dirty="0" smtClean="0">
              <a:latin typeface="Calibri"/>
              <a:cs typeface="Calibri"/>
            </a:endParaRPr>
          </a:p>
          <a:p>
            <a:pPr marL="3556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ru-RU" sz="2200" dirty="0" smtClean="0">
                <a:latin typeface="Calibri"/>
                <a:cs typeface="Calibri"/>
              </a:rPr>
              <a:t>Построения </a:t>
            </a:r>
            <a:r>
              <a:rPr lang="en-US" sz="2200" dirty="0" smtClean="0">
                <a:latin typeface="Calibri"/>
                <a:cs typeface="Calibri"/>
              </a:rPr>
              <a:t>GUI</a:t>
            </a:r>
            <a:r>
              <a:rPr lang="ru-RU" sz="2200" dirty="0" smtClean="0">
                <a:latin typeface="Calibri"/>
                <a:cs typeface="Calibri"/>
              </a:rPr>
              <a:t>: PyQt6</a:t>
            </a:r>
            <a:r>
              <a:rPr lang="en-US" sz="2200" dirty="0" smtClean="0">
                <a:latin typeface="Calibri"/>
                <a:cs typeface="Calibri"/>
              </a:rPr>
              <a:t> v6.7.1; </a:t>
            </a:r>
            <a:endParaRPr lang="ru-RU" sz="2200" dirty="0" smtClean="0">
              <a:latin typeface="Calibri"/>
              <a:cs typeface="Calibri"/>
            </a:endParaRPr>
          </a:p>
          <a:p>
            <a:pPr marL="3556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ru-RU" sz="2200" spc="-10" dirty="0" smtClean="0">
                <a:latin typeface="Calibri"/>
                <a:cs typeface="Calibri"/>
              </a:rPr>
              <a:t>Детекция и идентификация объектов: </a:t>
            </a:r>
            <a:r>
              <a:rPr lang="en-US" sz="2200" spc="-10" dirty="0" err="1" smtClean="0">
                <a:latin typeface="Calibri"/>
                <a:cs typeface="Calibri"/>
              </a:rPr>
              <a:t>ultralytics</a:t>
            </a:r>
            <a:r>
              <a:rPr lang="ru-RU" sz="2200" spc="-10" dirty="0" smtClean="0">
                <a:latin typeface="Calibri"/>
                <a:cs typeface="Calibri"/>
              </a:rPr>
              <a:t> </a:t>
            </a:r>
            <a:r>
              <a:rPr lang="en-US" sz="2200" spc="-10" dirty="0" smtClean="0">
                <a:latin typeface="Calibri"/>
                <a:cs typeface="Calibri"/>
              </a:rPr>
              <a:t>v8.3.40 , </a:t>
            </a:r>
            <a:r>
              <a:rPr lang="ru-RU" sz="2200" dirty="0" err="1" smtClean="0">
                <a:latin typeface="Calibri"/>
                <a:cs typeface="Calibri"/>
              </a:rPr>
              <a:t>EasyOCR</a:t>
            </a:r>
            <a:r>
              <a:rPr lang="en-US" sz="2200" dirty="0" smtClean="0">
                <a:latin typeface="Calibri"/>
                <a:cs typeface="Calibri"/>
              </a:rPr>
              <a:t> v1.7.2;</a:t>
            </a:r>
            <a:r>
              <a:rPr lang="ru-RU" sz="2200" dirty="0" smtClean="0">
                <a:latin typeface="Calibri"/>
                <a:cs typeface="Calibri"/>
              </a:rPr>
              <a:t> </a:t>
            </a:r>
          </a:p>
          <a:p>
            <a:pPr marL="3556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ru-RU" sz="2200" dirty="0" smtClean="0">
                <a:latin typeface="Calibri"/>
                <a:cs typeface="Calibri"/>
              </a:rPr>
              <a:t>Работа с изображениями: </a:t>
            </a:r>
            <a:r>
              <a:rPr lang="en-US" sz="2200" dirty="0" err="1" smtClean="0">
                <a:latin typeface="Calibri"/>
                <a:cs typeface="Calibri"/>
              </a:rPr>
              <a:t>opencv</a:t>
            </a:r>
            <a:r>
              <a:rPr lang="en-US" sz="2200" dirty="0" smtClean="0">
                <a:latin typeface="Calibri"/>
                <a:cs typeface="Calibri"/>
              </a:rPr>
              <a:t> v4.10.0.84 , Pillow v10.4.0</a:t>
            </a:r>
            <a:r>
              <a:rPr lang="en-US" sz="2200" dirty="0">
                <a:latin typeface="Calibri"/>
                <a:cs typeface="Calibri"/>
              </a:rPr>
              <a:t>;</a:t>
            </a:r>
            <a:endParaRPr lang="ru-RU" sz="2200" dirty="0" smtClean="0">
              <a:latin typeface="Calibri"/>
              <a:cs typeface="Calibri"/>
            </a:endParaRPr>
          </a:p>
          <a:p>
            <a:pPr marL="3556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ru-RU" sz="2200" dirty="0" smtClean="0">
                <a:latin typeface="Calibri"/>
                <a:cs typeface="Calibri"/>
              </a:rPr>
              <a:t>Экспорт </a:t>
            </a:r>
            <a:r>
              <a:rPr lang="en-US" sz="2200" dirty="0" smtClean="0">
                <a:latin typeface="Calibri"/>
                <a:cs typeface="Calibri"/>
              </a:rPr>
              <a:t>PDF </a:t>
            </a:r>
            <a:r>
              <a:rPr lang="ru-RU" sz="2200" dirty="0" smtClean="0">
                <a:latin typeface="Calibri"/>
                <a:cs typeface="Calibri"/>
              </a:rPr>
              <a:t>и </a:t>
            </a:r>
            <a:r>
              <a:rPr lang="en-US" sz="2200" dirty="0" smtClean="0">
                <a:latin typeface="Calibri"/>
                <a:cs typeface="Calibri"/>
              </a:rPr>
              <a:t>EXCEL: </a:t>
            </a:r>
            <a:r>
              <a:rPr lang="en-US" sz="2200" dirty="0" err="1" smtClean="0">
                <a:latin typeface="Calibri"/>
                <a:cs typeface="Calibri"/>
              </a:rPr>
              <a:t>reportlab</a:t>
            </a:r>
            <a:r>
              <a:rPr lang="en-US" sz="2200" dirty="0" smtClean="0">
                <a:latin typeface="Calibri"/>
                <a:cs typeface="Calibri"/>
              </a:rPr>
              <a:t> v4.2.5 , </a:t>
            </a:r>
            <a:r>
              <a:rPr lang="en-US" sz="2200" dirty="0" err="1" smtClean="0">
                <a:latin typeface="Calibri"/>
                <a:cs typeface="Calibri"/>
              </a:rPr>
              <a:t>openpyxl</a:t>
            </a:r>
            <a:r>
              <a:rPr lang="en-US" sz="2200" dirty="0" smtClean="0">
                <a:latin typeface="Calibri"/>
                <a:cs typeface="Calibri"/>
              </a:rPr>
              <a:t> v3.1.5;</a:t>
            </a:r>
            <a:endParaRPr lang="ru-RU" sz="2200" dirty="0" smtClean="0">
              <a:latin typeface="Calibri"/>
              <a:cs typeface="Calibri"/>
            </a:endParaRPr>
          </a:p>
          <a:p>
            <a:pPr marL="3556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ru-RU" sz="2200" dirty="0" smtClean="0">
                <a:latin typeface="Calibri"/>
                <a:cs typeface="Calibri"/>
              </a:rPr>
              <a:t>Обработка массивов и генерация графиков: pandas v2.2.3</a:t>
            </a:r>
            <a:r>
              <a:rPr lang="en-US" sz="2200" dirty="0">
                <a:latin typeface="Calibri"/>
                <a:cs typeface="Calibri"/>
              </a:rPr>
              <a:t> </a:t>
            </a:r>
            <a:r>
              <a:rPr lang="en-US" sz="2200" dirty="0" smtClean="0">
                <a:latin typeface="Calibri"/>
                <a:cs typeface="Calibri"/>
              </a:rPr>
              <a:t>,</a:t>
            </a:r>
            <a:r>
              <a:rPr lang="ru-RU" sz="2200" dirty="0" smtClean="0">
                <a:latin typeface="Calibri"/>
                <a:cs typeface="Calibri"/>
              </a:rPr>
              <a:t> </a:t>
            </a:r>
            <a:r>
              <a:rPr lang="en-US" sz="2200" dirty="0" err="1" smtClean="0">
                <a:latin typeface="Calibri"/>
                <a:cs typeface="Calibri"/>
              </a:rPr>
              <a:t>matplotlib</a:t>
            </a:r>
            <a:r>
              <a:rPr lang="ru-RU" sz="2200" dirty="0" smtClean="0">
                <a:latin typeface="Calibri"/>
                <a:cs typeface="Calibri"/>
              </a:rPr>
              <a:t> </a:t>
            </a:r>
            <a:r>
              <a:rPr lang="en-US" sz="2200" dirty="0" smtClean="0">
                <a:latin typeface="Calibri"/>
                <a:cs typeface="Calibri"/>
              </a:rPr>
              <a:t>v3.9.2; </a:t>
            </a:r>
          </a:p>
          <a:p>
            <a:pPr marL="3556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ru-RU" sz="2200" dirty="0" smtClean="0">
                <a:latin typeface="Calibri"/>
                <a:cs typeface="Calibri"/>
              </a:rPr>
              <a:t>СУБД</a:t>
            </a:r>
            <a:r>
              <a:rPr lang="en-US" sz="2200" dirty="0">
                <a:latin typeface="Calibri"/>
                <a:cs typeface="Calibri"/>
              </a:rPr>
              <a:t>:</a:t>
            </a:r>
            <a:r>
              <a:rPr lang="ru-RU" sz="2200" dirty="0" smtClean="0">
                <a:latin typeface="Calibri"/>
                <a:cs typeface="Calibri"/>
              </a:rPr>
              <a:t> </a:t>
            </a:r>
            <a:r>
              <a:rPr lang="ru-RU" sz="2200" dirty="0" err="1" smtClean="0">
                <a:latin typeface="Calibri"/>
                <a:cs typeface="Calibri"/>
              </a:rPr>
              <a:t>SQLite</a:t>
            </a:r>
            <a:r>
              <a:rPr lang="en-US" sz="2200" dirty="0">
                <a:latin typeface="Calibri"/>
                <a:cs typeface="Calibri"/>
              </a:rPr>
              <a:t>.</a:t>
            </a:r>
            <a:endParaRPr lang="ru-RU" sz="2200" dirty="0" smtClean="0">
              <a:latin typeface="Calibri"/>
              <a:cs typeface="Calibri"/>
            </a:endParaRPr>
          </a:p>
        </p:txBody>
      </p:sp>
      <p:sp>
        <p:nvSpPr>
          <p:cNvPr id="11" name="object 4"/>
          <p:cNvSpPr txBox="1"/>
          <p:nvPr/>
        </p:nvSpPr>
        <p:spPr>
          <a:xfrm>
            <a:off x="11353800" y="6422781"/>
            <a:ext cx="461645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9</a:t>
            </a:r>
            <a:r>
              <a:rPr spc="-20" dirty="0" smtClean="0">
                <a:solidFill>
                  <a:srgbClr val="767676"/>
                </a:solidFill>
                <a:latin typeface="Calibri"/>
                <a:cs typeface="Calibri"/>
              </a:rPr>
              <a:t>/14</a:t>
            </a:r>
            <a:endParaRPr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31850" y="6378218"/>
            <a:ext cx="442595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https://github.com/GFooX9/CourseWork2026</a:t>
            </a:r>
            <a:endParaRPr lang="ru-RU"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000" y="228600"/>
            <a:ext cx="8881109" cy="674543"/>
          </a:xfrm>
          <a:prstGeom prst="rect">
            <a:avLst/>
          </a:prstGeom>
        </p:spPr>
        <p:txBody>
          <a:bodyPr vert="horz" wrap="square" lIns="0" tIns="119379" rIns="0" bIns="0" rtlCol="0">
            <a:spAutoFit/>
          </a:bodyPr>
          <a:lstStyle/>
          <a:p>
            <a:pPr marL="2417445">
              <a:lnSpc>
                <a:spcPct val="100000"/>
              </a:lnSpc>
              <a:spcBef>
                <a:spcPts val="100"/>
              </a:spcBef>
            </a:pPr>
            <a:r>
              <a:rPr spc="-35" dirty="0" smtClean="0"/>
              <a:t>ГЛАВН</a:t>
            </a:r>
            <a:r>
              <a:rPr lang="ru-RU" spc="-35" dirty="0" smtClean="0"/>
              <a:t>ЫЙ ЭКРАН</a:t>
            </a:r>
            <a:endParaRPr spc="-10" dirty="0"/>
          </a:p>
        </p:txBody>
      </p:sp>
      <p:sp>
        <p:nvSpPr>
          <p:cNvPr id="5" name="object 4"/>
          <p:cNvSpPr txBox="1"/>
          <p:nvPr/>
        </p:nvSpPr>
        <p:spPr>
          <a:xfrm>
            <a:off x="11353800" y="6422781"/>
            <a:ext cx="609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 smtClean="0">
                <a:solidFill>
                  <a:srgbClr val="767676"/>
                </a:solidFill>
                <a:latin typeface="Calibri"/>
                <a:cs typeface="Calibri"/>
              </a:rPr>
              <a:t>10</a:t>
            </a:r>
            <a:r>
              <a:rPr spc="-20" dirty="0" smtClean="0">
                <a:solidFill>
                  <a:srgbClr val="767676"/>
                </a:solidFill>
                <a:latin typeface="Calibri"/>
                <a:cs typeface="Calibri"/>
              </a:rPr>
              <a:t>/14</a:t>
            </a:r>
            <a:endParaRPr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31850" y="6378218"/>
            <a:ext cx="442595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https://github.com/GFooX9/CourseWork2026</a:t>
            </a:r>
            <a:endParaRPr lang="ru-RU"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912108"/>
            <a:ext cx="7086600" cy="520708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4096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5445" y="212852"/>
            <a:ext cx="8881109" cy="674543"/>
          </a:xfrm>
          <a:prstGeom prst="rect">
            <a:avLst/>
          </a:prstGeom>
        </p:spPr>
        <p:txBody>
          <a:bodyPr vert="horz" wrap="square" lIns="0" tIns="119379" rIns="0" bIns="0" rtlCol="0">
            <a:spAutoFit/>
          </a:bodyPr>
          <a:lstStyle/>
          <a:p>
            <a:pPr marL="2417445">
              <a:lnSpc>
                <a:spcPct val="100000"/>
              </a:lnSpc>
              <a:spcBef>
                <a:spcPts val="100"/>
              </a:spcBef>
            </a:pPr>
            <a:r>
              <a:rPr lang="ru-RU" spc="-35" dirty="0" smtClean="0"/>
              <a:t>ЭКРАН ИДЕНТИФИКАТОРА</a:t>
            </a:r>
            <a:endParaRPr spc="-10" dirty="0"/>
          </a:p>
        </p:txBody>
      </p:sp>
      <p:sp>
        <p:nvSpPr>
          <p:cNvPr id="5" name="object 4"/>
          <p:cNvSpPr txBox="1"/>
          <p:nvPr/>
        </p:nvSpPr>
        <p:spPr>
          <a:xfrm>
            <a:off x="11353800" y="6422781"/>
            <a:ext cx="609600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 smtClean="0">
                <a:solidFill>
                  <a:srgbClr val="767676"/>
                </a:solidFill>
                <a:latin typeface="Calibri"/>
                <a:cs typeface="Calibri"/>
              </a:rPr>
              <a:t>1</a:t>
            </a:r>
            <a:r>
              <a:rPr lang="ru-RU" spc="-20" dirty="0" smtClean="0">
                <a:solidFill>
                  <a:srgbClr val="767676"/>
                </a:solidFill>
                <a:latin typeface="Calibri"/>
                <a:cs typeface="Calibri"/>
              </a:rPr>
              <a:t>1</a:t>
            </a:r>
            <a:r>
              <a:rPr spc="-20" dirty="0" smtClean="0">
                <a:solidFill>
                  <a:srgbClr val="767676"/>
                </a:solidFill>
                <a:latin typeface="Calibri"/>
                <a:cs typeface="Calibri"/>
              </a:rPr>
              <a:t>/14</a:t>
            </a:r>
            <a:endParaRPr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31850" y="6378218"/>
            <a:ext cx="442595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https://github.com/GFooX9/CourseWork2026</a:t>
            </a:r>
            <a:endParaRPr lang="ru-RU"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1219200" y="1066800"/>
            <a:ext cx="9720000" cy="486554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5445" y="212852"/>
            <a:ext cx="8881109" cy="674543"/>
          </a:xfrm>
          <a:prstGeom prst="rect">
            <a:avLst/>
          </a:prstGeom>
        </p:spPr>
        <p:txBody>
          <a:bodyPr vert="horz" wrap="square" lIns="0" tIns="119379" rIns="0" bIns="0" rtlCol="0">
            <a:spAutoFit/>
          </a:bodyPr>
          <a:lstStyle/>
          <a:p>
            <a:pPr marL="1211580">
              <a:lnSpc>
                <a:spcPct val="100000"/>
              </a:lnSpc>
              <a:spcBef>
                <a:spcPts val="100"/>
              </a:spcBef>
            </a:pPr>
            <a:r>
              <a:rPr lang="ru-RU" spc="-20" dirty="0" smtClean="0"/>
              <a:t>ЭКРАН ИСТОРИИ ПРОТОКОЛОВ</a:t>
            </a:r>
            <a:endParaRPr spc="-10" dirty="0"/>
          </a:p>
        </p:txBody>
      </p:sp>
      <p:sp>
        <p:nvSpPr>
          <p:cNvPr id="5" name="object 4"/>
          <p:cNvSpPr txBox="1"/>
          <p:nvPr/>
        </p:nvSpPr>
        <p:spPr>
          <a:xfrm>
            <a:off x="11353800" y="6422781"/>
            <a:ext cx="609600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 smtClean="0">
                <a:solidFill>
                  <a:srgbClr val="767676"/>
                </a:solidFill>
                <a:latin typeface="Calibri"/>
                <a:cs typeface="Calibri"/>
              </a:rPr>
              <a:t>1</a:t>
            </a:r>
            <a:r>
              <a:rPr lang="ru-RU" spc="-20" dirty="0" smtClean="0">
                <a:solidFill>
                  <a:srgbClr val="767676"/>
                </a:solidFill>
                <a:latin typeface="Calibri"/>
                <a:cs typeface="Calibri"/>
              </a:rPr>
              <a:t>2</a:t>
            </a:r>
            <a:r>
              <a:rPr spc="-20" dirty="0" smtClean="0">
                <a:solidFill>
                  <a:srgbClr val="767676"/>
                </a:solidFill>
                <a:latin typeface="Calibri"/>
                <a:cs typeface="Calibri"/>
              </a:rPr>
              <a:t>/14</a:t>
            </a:r>
            <a:endParaRPr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31850" y="6378218"/>
            <a:ext cx="442595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https://github.com/GFooX9/CourseWork2026</a:t>
            </a:r>
            <a:endParaRPr lang="ru-RU"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43000"/>
            <a:ext cx="9593450" cy="4572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7360" y="227457"/>
            <a:ext cx="71780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ФУНКЦИОНАЛЬНОЕ</a:t>
            </a:r>
            <a:r>
              <a:rPr spc="-120" dirty="0"/>
              <a:t> </a:t>
            </a:r>
            <a:r>
              <a:rPr spc="-10" dirty="0"/>
              <a:t>ТЕСТИРОВАНИЕ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543981"/>
              </p:ext>
            </p:extLst>
          </p:nvPr>
        </p:nvGraphicFramePr>
        <p:xfrm>
          <a:off x="831850" y="821817"/>
          <a:ext cx="10515599" cy="54615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2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8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№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Название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  <a:p>
                      <a:pPr marL="39370" algn="ctr">
                        <a:lnSpc>
                          <a:spcPts val="1660"/>
                        </a:lnSpc>
                        <a:spcBef>
                          <a:spcPts val="840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теста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400" b="1" spc="-20" dirty="0">
                          <a:latin typeface="Calibri"/>
                          <a:cs typeface="Calibri"/>
                        </a:rPr>
                        <a:t>Шаги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Ожидаемый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40640" algn="ctr">
                        <a:lnSpc>
                          <a:spcPts val="1660"/>
                        </a:lnSpc>
                        <a:spcBef>
                          <a:spcPts val="840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результат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99745">
                        <a:lnSpc>
                          <a:spcPct val="100000"/>
                        </a:lnSpc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Тест</a:t>
                      </a:r>
                      <a:r>
                        <a:rPr sz="1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пройден?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0261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ru-RU" sz="1400" spc="-10" dirty="0" smtClean="0">
                          <a:latin typeface="+mn-lt"/>
                          <a:cs typeface="Calibri"/>
                        </a:rPr>
                        <a:t>Запуск комплексного ИИ-анализа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2570" indent="-173990">
                        <a:lnSpc>
                          <a:spcPct val="150000"/>
                        </a:lnSpc>
                        <a:spcBef>
                          <a:spcPts val="0"/>
                        </a:spcBef>
                        <a:buAutoNum type="arabicPeriod"/>
                        <a:tabLst>
                          <a:tab pos="242570" algn="l"/>
                        </a:tabLst>
                      </a:pPr>
                      <a:r>
                        <a:rPr lang="ru-RU" sz="1400" spc="-10" dirty="0" smtClean="0">
                          <a:latin typeface="+mn-lt"/>
                          <a:cs typeface="Calibri"/>
                        </a:rPr>
                        <a:t>Выбрать изображение. </a:t>
                      </a:r>
                    </a:p>
                    <a:p>
                      <a:pPr marL="242570" indent="-173990">
                        <a:lnSpc>
                          <a:spcPct val="150000"/>
                        </a:lnSpc>
                        <a:spcBef>
                          <a:spcPts val="0"/>
                        </a:spcBef>
                        <a:buAutoNum type="arabicPeriod"/>
                        <a:tabLst>
                          <a:tab pos="242570" algn="l"/>
                        </a:tabLst>
                      </a:pPr>
                      <a:r>
                        <a:rPr lang="ru-RU" sz="1400" spc="-10" dirty="0" smtClean="0">
                          <a:latin typeface="+mn-lt"/>
                          <a:cs typeface="Calibri"/>
                        </a:rPr>
                        <a:t>Задать порог точности.</a:t>
                      </a:r>
                    </a:p>
                    <a:p>
                      <a:pPr marL="242570" indent="-173990">
                        <a:lnSpc>
                          <a:spcPct val="150000"/>
                        </a:lnSpc>
                        <a:spcBef>
                          <a:spcPts val="0"/>
                        </a:spcBef>
                        <a:buAutoNum type="arabicPeriod"/>
                        <a:tabLst>
                          <a:tab pos="242570" algn="l"/>
                        </a:tabLst>
                      </a:pPr>
                      <a:r>
                        <a:rPr lang="ru-RU" sz="1400" spc="-10" dirty="0" smtClean="0">
                          <a:latin typeface="+mn-lt"/>
                          <a:cs typeface="Calibri"/>
                        </a:rPr>
                        <a:t>Нажать «Запустить анализ».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ru-RU" sz="1400" spc="-10" dirty="0" smtClean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Поток </a:t>
                      </a:r>
                      <a:r>
                        <a:rPr lang="ru-RU" sz="1400" spc="-10" dirty="0" err="1" smtClean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QThread</a:t>
                      </a:r>
                      <a:r>
                        <a:rPr lang="ru-RU" sz="1400" spc="-10" dirty="0" smtClean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 выполняет инференс без зависания GUI</a:t>
                      </a:r>
                      <a:endParaRPr sz="1400" spc="-1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Да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1046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ru-RU" sz="1400" dirty="0" smtClean="0"/>
                        <a:t>Нарезка фрагментов для </a:t>
                      </a:r>
                      <a:r>
                        <a:rPr lang="ru-RU" sz="1400" dirty="0" err="1" smtClean="0"/>
                        <a:t>датасета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2570" indent="-173990" algn="l">
                        <a:lnSpc>
                          <a:spcPct val="150000"/>
                        </a:lnSpc>
                        <a:spcBef>
                          <a:spcPts val="0"/>
                        </a:spcBef>
                        <a:buAutoNum type="arabicPeriod"/>
                        <a:tabLst>
                          <a:tab pos="242570" algn="l"/>
                        </a:tabLst>
                      </a:pPr>
                      <a:r>
                        <a:rPr lang="ru-RU" sz="1400" spc="-1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Провести анализ растра.</a:t>
                      </a:r>
                    </a:p>
                    <a:p>
                      <a:pPr marL="242570" indent="-173990" algn="l">
                        <a:lnSpc>
                          <a:spcPct val="150000"/>
                        </a:lnSpc>
                        <a:spcBef>
                          <a:spcPts val="0"/>
                        </a:spcBef>
                        <a:buAutoNum type="arabicPeriod"/>
                        <a:tabLst>
                          <a:tab pos="242570" algn="l"/>
                        </a:tabLst>
                      </a:pPr>
                      <a:r>
                        <a:rPr lang="ru-RU" sz="1400" spc="-1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Отметить</a:t>
                      </a:r>
                      <a:r>
                        <a:rPr lang="ru-RU" sz="1400" spc="-1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ru-RU" sz="1400" spc="-1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нужные объекты. </a:t>
                      </a:r>
                    </a:p>
                    <a:p>
                      <a:pPr marL="242570" indent="-173990" algn="l">
                        <a:lnSpc>
                          <a:spcPct val="150000"/>
                        </a:lnSpc>
                        <a:spcBef>
                          <a:spcPts val="0"/>
                        </a:spcBef>
                        <a:buAutoNum type="arabicPeriod"/>
                        <a:tabLst>
                          <a:tab pos="242570" algn="l"/>
                        </a:tabLst>
                      </a:pPr>
                      <a:r>
                        <a:rPr lang="ru-RU" sz="1400" spc="-1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Подтвердить сохранение.</a:t>
                      </a:r>
                      <a:endParaRPr sz="1400" spc="-1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ru-RU" sz="1400" dirty="0" smtClean="0"/>
                        <a:t>Программа вырезает </a:t>
                      </a:r>
                      <a:r>
                        <a:rPr lang="ru-RU" sz="1400" dirty="0" err="1" smtClean="0"/>
                        <a:t>кропы</a:t>
                      </a:r>
                      <a:r>
                        <a:rPr lang="ru-RU" sz="1400" dirty="0" smtClean="0"/>
                        <a:t> объектов и сохраняет в локальные папки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Да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655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lang="ru-RU" sz="1400" spc="-20" dirty="0" smtClean="0">
                          <a:latin typeface="+mn-lt"/>
                          <a:cs typeface="Calibri"/>
                        </a:rPr>
                        <a:t>Экспорт сводного </a:t>
                      </a:r>
                      <a:r>
                        <a:rPr lang="en-US" sz="1400" spc="-20" dirty="0" smtClean="0">
                          <a:latin typeface="+mn-lt"/>
                          <a:cs typeface="Calibri"/>
                        </a:rPr>
                        <a:t>PDF-</a:t>
                      </a:r>
                      <a:r>
                        <a:rPr lang="ru-RU" sz="1400" spc="-20" dirty="0" smtClean="0">
                          <a:latin typeface="+mn-lt"/>
                          <a:cs typeface="Calibri"/>
                        </a:rPr>
                        <a:t>отчета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2570" indent="-173990">
                        <a:lnSpc>
                          <a:spcPct val="100000"/>
                        </a:lnSpc>
                        <a:spcBef>
                          <a:spcPts val="505"/>
                        </a:spcBef>
                        <a:buAutoNum type="arabicPeriod"/>
                        <a:tabLst>
                          <a:tab pos="242570" algn="l"/>
                        </a:tabLst>
                      </a:pPr>
                      <a:r>
                        <a:rPr lang="ru-RU" sz="1400" spc="-10" dirty="0" smtClean="0">
                          <a:latin typeface="+mn-lt"/>
                          <a:cs typeface="Calibri"/>
                        </a:rPr>
                        <a:t>Перейти в карточку протокола</a:t>
                      </a:r>
                    </a:p>
                    <a:p>
                      <a:pPr marL="242570" indent="-173990">
                        <a:lnSpc>
                          <a:spcPct val="100000"/>
                        </a:lnSpc>
                        <a:spcBef>
                          <a:spcPts val="505"/>
                        </a:spcBef>
                        <a:buAutoNum type="arabicPeriod"/>
                        <a:tabLst>
                          <a:tab pos="242570" algn="l"/>
                        </a:tabLst>
                      </a:pPr>
                      <a:r>
                        <a:rPr lang="ru-RU" sz="1400" spc="-10" dirty="0" smtClean="0">
                          <a:latin typeface="+mn-lt"/>
                          <a:cs typeface="Calibri"/>
                        </a:rPr>
                        <a:t>Внести текстовую заметку</a:t>
                      </a:r>
                    </a:p>
                    <a:p>
                      <a:pPr marL="242570" indent="-173990">
                        <a:lnSpc>
                          <a:spcPct val="100000"/>
                        </a:lnSpc>
                        <a:spcBef>
                          <a:spcPts val="505"/>
                        </a:spcBef>
                        <a:buAutoNum type="arabicPeriod"/>
                        <a:tabLst>
                          <a:tab pos="242570" algn="l"/>
                        </a:tabLst>
                      </a:pPr>
                      <a:r>
                        <a:rPr lang="ru-RU" sz="1400" spc="-10" dirty="0" smtClean="0">
                          <a:latin typeface="+mn-lt"/>
                          <a:cs typeface="Calibri"/>
                        </a:rPr>
                        <a:t>Нажать кнопку «Экспорт в PDF»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ru-RU" sz="1400" spc="-10" dirty="0" smtClean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Генерируется многостраничный PDF-документ с водяным знаком</a:t>
                      </a:r>
                      <a:endParaRPr sz="1400" spc="-1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Да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831850" y="6378218"/>
            <a:ext cx="442595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https://github.com/GFooX9/CourseWork2026</a:t>
            </a:r>
            <a:endParaRPr lang="ru-RU"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11353800" y="6422781"/>
            <a:ext cx="609600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 smtClean="0">
                <a:solidFill>
                  <a:srgbClr val="767676"/>
                </a:solidFill>
                <a:latin typeface="Calibri"/>
                <a:cs typeface="Calibri"/>
              </a:rPr>
              <a:t>13</a:t>
            </a:r>
            <a:r>
              <a:rPr spc="-20" dirty="0" smtClean="0">
                <a:solidFill>
                  <a:srgbClr val="767676"/>
                </a:solidFill>
                <a:latin typeface="Calibri"/>
                <a:cs typeface="Calibri"/>
              </a:rPr>
              <a:t>/1</a:t>
            </a:r>
            <a:r>
              <a:rPr lang="en-US" spc="-20" dirty="0" smtClean="0">
                <a:solidFill>
                  <a:srgbClr val="767676"/>
                </a:solidFill>
                <a:latin typeface="Calibri"/>
                <a:cs typeface="Calibri"/>
              </a:rPr>
              <a:t>4</a:t>
            </a:r>
            <a:endParaRPr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179556" y="6386423"/>
            <a:ext cx="577215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10" dirty="0" smtClean="0">
                <a:solidFill>
                  <a:srgbClr val="767676"/>
                </a:solidFill>
                <a:latin typeface="Calibri"/>
                <a:cs typeface="Calibri"/>
              </a:rPr>
              <a:t>1</a:t>
            </a:r>
            <a:r>
              <a:rPr lang="en-US" spc="-10" dirty="0">
                <a:solidFill>
                  <a:srgbClr val="767676"/>
                </a:solidFill>
                <a:latin typeface="Calibri"/>
                <a:cs typeface="Calibri"/>
              </a:rPr>
              <a:t>4</a:t>
            </a:r>
            <a:r>
              <a:rPr sz="1800" spc="-10" dirty="0" smtClean="0">
                <a:solidFill>
                  <a:srgbClr val="767676"/>
                </a:solidFill>
                <a:latin typeface="Calibri"/>
                <a:cs typeface="Calibri"/>
              </a:rPr>
              <a:t>/1</a:t>
            </a:r>
            <a:r>
              <a:rPr lang="en-US" sz="1800" spc="-10" dirty="0" smtClean="0">
                <a:solidFill>
                  <a:srgbClr val="767676"/>
                </a:solidFill>
                <a:latin typeface="Calibri"/>
                <a:cs typeface="Calibri"/>
              </a:rPr>
              <a:t>4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16939" y="1974545"/>
            <a:ext cx="9619615" cy="374782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Calibri"/>
              <a:buAutoNum type="arabicPeriod"/>
              <a:tabLst>
                <a:tab pos="354965" algn="l"/>
              </a:tabLst>
            </a:pPr>
            <a:r>
              <a:rPr lang="ru-RU" dirty="0" smtClean="0"/>
              <a:t>Проведен анализ </a:t>
            </a:r>
            <a:r>
              <a:rPr lang="ru-RU" dirty="0"/>
              <a:t>предметной области и обзор существующих решений</a:t>
            </a:r>
            <a:r>
              <a:rPr lang="ru-RU" dirty="0" smtClean="0"/>
              <a:t>.</a:t>
            </a:r>
            <a:endParaRPr spc="-10" dirty="0"/>
          </a:p>
          <a:p>
            <a:pPr marL="354330" indent="-341630">
              <a:lnSpc>
                <a:spcPct val="100000"/>
              </a:lnSpc>
              <a:spcBef>
                <a:spcPts val="2560"/>
              </a:spcBef>
              <a:buAutoNum type="arabicPeriod"/>
              <a:tabLst>
                <a:tab pos="354330" algn="l"/>
              </a:tabLst>
            </a:pPr>
            <a:r>
              <a:rPr lang="ru-RU" dirty="0" smtClean="0"/>
              <a:t>Сформулированы </a:t>
            </a:r>
            <a:r>
              <a:rPr lang="ru-RU" dirty="0"/>
              <a:t>требования к десктопному приложению</a:t>
            </a:r>
            <a:r>
              <a:rPr lang="ru-RU" dirty="0" smtClean="0"/>
              <a:t>.</a:t>
            </a:r>
            <a:endParaRPr spc="-10" dirty="0"/>
          </a:p>
          <a:p>
            <a:pPr marL="354965" indent="-342265">
              <a:lnSpc>
                <a:spcPct val="100000"/>
              </a:lnSpc>
              <a:spcBef>
                <a:spcPts val="2555"/>
              </a:spcBef>
              <a:buAutoNum type="arabicPeriod"/>
              <a:tabLst>
                <a:tab pos="354965" algn="l"/>
              </a:tabLst>
            </a:pPr>
            <a:r>
              <a:rPr lang="ru-RU" dirty="0" smtClean="0"/>
              <a:t>Спроектировано</a:t>
            </a:r>
            <a:r>
              <a:rPr spc="-65" dirty="0" smtClean="0"/>
              <a:t> </a:t>
            </a:r>
            <a:r>
              <a:rPr lang="ru-RU" dirty="0" smtClean="0"/>
              <a:t>десктопное приложение</a:t>
            </a:r>
            <a:r>
              <a:rPr spc="-10" dirty="0" smtClean="0"/>
              <a:t>.</a:t>
            </a:r>
            <a:endParaRPr spc="-10" dirty="0"/>
          </a:p>
          <a:p>
            <a:pPr marL="354965" indent="-342265">
              <a:lnSpc>
                <a:spcPct val="100000"/>
              </a:lnSpc>
              <a:spcBef>
                <a:spcPts val="2555"/>
              </a:spcBef>
              <a:buAutoNum type="arabicPeriod"/>
              <a:tabLst>
                <a:tab pos="354965" algn="l"/>
              </a:tabLst>
            </a:pPr>
            <a:r>
              <a:rPr lang="ru-RU" dirty="0" smtClean="0"/>
              <a:t>Реализовано</a:t>
            </a:r>
            <a:r>
              <a:rPr spc="-40" dirty="0" smtClean="0"/>
              <a:t> </a:t>
            </a:r>
            <a:r>
              <a:rPr lang="ru-RU" spc="-10" dirty="0" smtClean="0"/>
              <a:t>десктопное приложение</a:t>
            </a:r>
            <a:r>
              <a:rPr spc="-10" dirty="0" smtClean="0"/>
              <a:t>.</a:t>
            </a:r>
            <a:endParaRPr spc="-10" dirty="0"/>
          </a:p>
          <a:p>
            <a:pPr marL="354330" indent="-341630">
              <a:lnSpc>
                <a:spcPct val="100000"/>
              </a:lnSpc>
              <a:spcBef>
                <a:spcPts val="2560"/>
              </a:spcBef>
              <a:buAutoNum type="arabicPeriod"/>
              <a:tabLst>
                <a:tab pos="354330" algn="l"/>
              </a:tabLst>
            </a:pPr>
            <a:r>
              <a:rPr dirty="0"/>
              <a:t>Проведено</a:t>
            </a:r>
            <a:r>
              <a:rPr spc="-45" dirty="0"/>
              <a:t> </a:t>
            </a:r>
            <a:r>
              <a:rPr dirty="0"/>
              <a:t>тестирование</a:t>
            </a:r>
            <a:r>
              <a:rPr spc="-40" dirty="0"/>
              <a:t> </a:t>
            </a:r>
            <a:r>
              <a:rPr lang="ru-RU" spc="-10" dirty="0" smtClean="0"/>
              <a:t>разработанного приложения</a:t>
            </a:r>
            <a:r>
              <a:rPr spc="-10" dirty="0" smtClean="0"/>
              <a:t>.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4200" rIns="0" bIns="0" rtlCol="0">
            <a:spAutoFit/>
          </a:bodyPr>
          <a:lstStyle/>
          <a:p>
            <a:pPr marL="2027555">
              <a:lnSpc>
                <a:spcPct val="100000"/>
              </a:lnSpc>
              <a:spcBef>
                <a:spcPts val="100"/>
              </a:spcBef>
            </a:pPr>
            <a:r>
              <a:rPr dirty="0"/>
              <a:t>ОСНОВНЫЕ</a:t>
            </a:r>
            <a:r>
              <a:rPr spc="-25" dirty="0"/>
              <a:t> </a:t>
            </a:r>
            <a:r>
              <a:rPr spc="-105" dirty="0"/>
              <a:t>РЕЗУЛЬТАТЫ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31850" y="6378218"/>
            <a:ext cx="442595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https://github.com/GFooX9/CourseWork2026</a:t>
            </a:r>
            <a:endParaRPr lang="ru-RU"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05200" y="228600"/>
            <a:ext cx="4724400" cy="1046175"/>
          </a:xfrm>
          <a:prstGeom prst="rect">
            <a:avLst/>
          </a:prstGeom>
        </p:spPr>
        <p:txBody>
          <a:bodyPr vert="horz" wrap="square" lIns="0" tIns="484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ru-RU" dirty="0" smtClean="0"/>
              <a:t>Таблица </a:t>
            </a:r>
            <a:r>
              <a:rPr lang="en-US" dirty="0" smtClean="0"/>
              <a:t>SQLite</a:t>
            </a:r>
            <a:endParaRPr spc="-105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809" y="1657102"/>
            <a:ext cx="8640381" cy="354379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Прямоугольник 6"/>
          <p:cNvSpPr/>
          <p:nvPr/>
        </p:nvSpPr>
        <p:spPr>
          <a:xfrm>
            <a:off x="831850" y="6378218"/>
            <a:ext cx="442595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https://github.com/GFooX9/CourseWork2026</a:t>
            </a:r>
            <a:endParaRPr lang="ru-RU"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0314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55445" y="-304800"/>
            <a:ext cx="8881109" cy="1046175"/>
          </a:xfrm>
          <a:prstGeom prst="rect">
            <a:avLst/>
          </a:prstGeom>
        </p:spPr>
        <p:txBody>
          <a:bodyPr vert="horz" wrap="square" lIns="0" tIns="484200" rIns="0" bIns="0" rtlCol="0">
            <a:spAutoFit/>
          </a:bodyPr>
          <a:lstStyle/>
          <a:p>
            <a:pPr marL="2027555">
              <a:lnSpc>
                <a:spcPct val="100000"/>
              </a:lnSpc>
            </a:pPr>
            <a:r>
              <a:rPr lang="ru-RU" dirty="0" smtClean="0"/>
              <a:t>Архитектура </a:t>
            </a:r>
            <a:r>
              <a:rPr lang="en-US" dirty="0" smtClean="0"/>
              <a:t>YOLOv11</a:t>
            </a:r>
            <a:endParaRPr spc="-105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445" y="969651"/>
            <a:ext cx="8848452" cy="539586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" name="Прямоугольник 3"/>
          <p:cNvSpPr/>
          <p:nvPr/>
        </p:nvSpPr>
        <p:spPr>
          <a:xfrm>
            <a:off x="831850" y="6378218"/>
            <a:ext cx="442595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https://github.com/GFooX9/CourseWork2026</a:t>
            </a:r>
            <a:endParaRPr lang="ru-RU"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3665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05200" y="228600"/>
            <a:ext cx="4724400" cy="1046175"/>
          </a:xfrm>
          <a:prstGeom prst="rect">
            <a:avLst/>
          </a:prstGeom>
        </p:spPr>
        <p:txBody>
          <a:bodyPr vert="horz" wrap="square" lIns="0" tIns="484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ru-RU" dirty="0" smtClean="0"/>
              <a:t>Схема работы </a:t>
            </a:r>
            <a:r>
              <a:rPr lang="en-US" dirty="0" smtClean="0"/>
              <a:t>OCR</a:t>
            </a:r>
            <a:endParaRPr spc="-105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2987675" y="1600200"/>
            <a:ext cx="5759450" cy="122491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2987675" y="3429000"/>
            <a:ext cx="5759450" cy="209232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Прямоугольник 5"/>
          <p:cNvSpPr/>
          <p:nvPr/>
        </p:nvSpPr>
        <p:spPr>
          <a:xfrm>
            <a:off x="831850" y="6378218"/>
            <a:ext cx="442595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https://github.com/GFooX9/CourseWork2026</a:t>
            </a:r>
            <a:endParaRPr lang="ru-RU"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71495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615</TotalTime>
  <Words>423</Words>
  <Application>Microsoft Office PowerPoint</Application>
  <PresentationFormat>Широкоэкранный</PresentationFormat>
  <Paragraphs>132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宋体</vt:lpstr>
      <vt:lpstr>Arial</vt:lpstr>
      <vt:lpstr>Arial MT</vt:lpstr>
      <vt:lpstr>Calibri</vt:lpstr>
      <vt:lpstr>等线 Light</vt:lpstr>
      <vt:lpstr>Times New Roman</vt:lpstr>
      <vt:lpstr>Office Theme</vt:lpstr>
      <vt:lpstr>Презентация PowerPoint</vt:lpstr>
      <vt:lpstr>ЦЕЛЬ И ЗАДАЧИ</vt:lpstr>
      <vt:lpstr>АКТУАЛЬНОСТЬ РАЗРАБОТКИ</vt:lpstr>
      <vt:lpstr>ОБЗОР АНАЛОГОВ</vt:lpstr>
      <vt:lpstr>ДИАГРАММА ВАРИАНТОВ ИСПОЛЬЗОВАНИЯ</vt:lpstr>
      <vt:lpstr>ДИАГРАММА КОМПОНЕНТОВ</vt:lpstr>
      <vt:lpstr>ДИАГРАММА ДЕЯТЕЛЬНОСТИ</vt:lpstr>
      <vt:lpstr>ДИАГРАММА ПОСЛЕДОВАТЕЛЬНОСТИ</vt:lpstr>
      <vt:lpstr>СРЕДСТВА РАЗРАБОТКИ</vt:lpstr>
      <vt:lpstr>ГЛАВНЫЙ ЭКРАН</vt:lpstr>
      <vt:lpstr>ЭКРАН ИДЕНТИФИКАТОРА</vt:lpstr>
      <vt:lpstr>ЭКРАН ИСТОРИИ ПРОТОКОЛОВ</vt:lpstr>
      <vt:lpstr>ФУНКЦИОНАЛЬНОЕ ТЕСТИРОВАНИЕ</vt:lpstr>
      <vt:lpstr>ОСНОВНЫЕ РЕЗУЛЬТАТЫ</vt:lpstr>
      <vt:lpstr>Таблица SQLite</vt:lpstr>
      <vt:lpstr>Архитектура YOLOv11</vt:lpstr>
      <vt:lpstr>Схема работы OCR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Виктория Одинцова</dc:creator>
  <cp:lastModifiedBy>Alexander Dobler</cp:lastModifiedBy>
  <cp:revision>27</cp:revision>
  <dcterms:created xsi:type="dcterms:W3CDTF">2026-06-03T08:53:12Z</dcterms:created>
  <dcterms:modified xsi:type="dcterms:W3CDTF">2026-06-09T14:17:50Z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2026-05-31T00:00:00Z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2026-06-03T00:00:00Z</vt:filetime>
  </property>
  <property fmtid="{D5CDD505-2E9C-101B-9397-08002B2CF9AE}" pid="5" name="Producer">
    <vt:lpwstr>Microsoft® PowerPoint® LTSC</vt:lpwstr>
  </property>
</Properties>
</file>