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6" r:id="rId8"/>
    <p:sldId id="267" r:id="rId9"/>
    <p:sldId id="263" r:id="rId10"/>
    <p:sldId id="272" r:id="rId11"/>
    <p:sldId id="264" r:id="rId12"/>
    <p:sldId id="265" r:id="rId13"/>
    <p:sldId id="268" r:id="rId14"/>
    <p:sldId id="269" r:id="rId15"/>
    <p:sldId id="273" r:id="rId16"/>
    <p:sldId id="270" r:id="rId17"/>
    <p:sldId id="271" r:id="rId18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5454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134" autoAdjust="0"/>
    <p:restoredTop sz="94660"/>
  </p:normalViewPr>
  <p:slideViewPr>
    <p:cSldViewPr>
      <p:cViewPr varScale="1">
        <p:scale>
          <a:sx n="107" d="100"/>
          <a:sy n="107" d="100"/>
        </p:scale>
        <p:origin x="432" y="10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1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6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6/7/2026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rgbClr val="767676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ct val="100000"/>
              </a:lnSpc>
              <a:spcBef>
                <a:spcPts val="835"/>
              </a:spcBef>
            </a:pPr>
            <a:fld id="{81D60167-4931-47E6-BA6A-407CBD079E47}" type="slidenum">
              <a:rPr spc="-10" dirty="0"/>
              <a:t>‹#›</a:t>
            </a:fld>
            <a:r>
              <a:rPr spc="-10" dirty="0"/>
              <a:t>/14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1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6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6/7/2026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rgbClr val="767676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ct val="100000"/>
              </a:lnSpc>
              <a:spcBef>
                <a:spcPts val="835"/>
              </a:spcBef>
            </a:pPr>
            <a:fld id="{81D60167-4931-47E6-BA6A-407CBD079E47}" type="slidenum">
              <a:rPr spc="-10" dirty="0"/>
              <a:t>‹#›</a:t>
            </a:fld>
            <a:r>
              <a:rPr spc="-10" dirty="0"/>
              <a:t>/14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1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6/7/2026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rgbClr val="767676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ct val="100000"/>
              </a:lnSpc>
              <a:spcBef>
                <a:spcPts val="835"/>
              </a:spcBef>
            </a:pPr>
            <a:fld id="{81D60167-4931-47E6-BA6A-407CBD079E47}" type="slidenum">
              <a:rPr spc="-10" dirty="0"/>
              <a:t>‹#›</a:t>
            </a:fld>
            <a:r>
              <a:rPr spc="-10" dirty="0"/>
              <a:t>/14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1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6/7/2026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rgbClr val="767676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ct val="100000"/>
              </a:lnSpc>
              <a:spcBef>
                <a:spcPts val="835"/>
              </a:spcBef>
            </a:pPr>
            <a:fld id="{81D60167-4931-47E6-BA6A-407CBD079E47}" type="slidenum">
              <a:rPr spc="-10" dirty="0"/>
              <a:t>‹#›</a:t>
            </a:fld>
            <a:r>
              <a:rPr spc="-10" dirty="0"/>
              <a:t>/14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6/7/2026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rgbClr val="767676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ct val="100000"/>
              </a:lnSpc>
              <a:spcBef>
                <a:spcPts val="835"/>
              </a:spcBef>
            </a:pPr>
            <a:fld id="{81D60167-4931-47E6-BA6A-407CBD079E47}" type="slidenum">
              <a:rPr spc="-10" dirty="0"/>
              <a:t>‹#›</a:t>
            </a:fld>
            <a:r>
              <a:rPr spc="-10" dirty="0"/>
              <a:t>/14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655445" y="212852"/>
            <a:ext cx="8881109" cy="1046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1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916939" y="1974545"/>
            <a:ext cx="7115809" cy="4029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6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6/7/2026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1115802" y="6294450"/>
            <a:ext cx="577215" cy="4044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rgbClr val="767676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ct val="100000"/>
              </a:lnSpc>
              <a:spcBef>
                <a:spcPts val="835"/>
              </a:spcBef>
            </a:pPr>
            <a:fld id="{81D60167-4931-47E6-BA6A-407CBD079E47}" type="slidenum">
              <a:rPr spc="-10" dirty="0"/>
              <a:t>‹#›</a:t>
            </a:fld>
            <a:r>
              <a:rPr spc="-10" dirty="0"/>
              <a:t>/14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1032459" y="4451730"/>
            <a:ext cx="3691941" cy="1031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sz="2200" dirty="0">
                <a:latin typeface="Calibri"/>
                <a:cs typeface="Calibri"/>
              </a:rPr>
              <a:t>Научный</a:t>
            </a:r>
            <a:r>
              <a:rPr sz="2200" spc="-7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руководитель: </a:t>
            </a:r>
            <a:r>
              <a:rPr lang="ru-RU" sz="2200" dirty="0">
                <a:latin typeface="Calibri"/>
                <a:cs typeface="Calibri"/>
              </a:rPr>
              <a:t>Доцент кафедры СП, к.ф.-м.н.</a:t>
            </a:r>
            <a:r>
              <a:rPr sz="2200" spc="-25" dirty="0" smtClean="0">
                <a:latin typeface="Calibri"/>
                <a:cs typeface="Calibri"/>
              </a:rPr>
              <a:t>, </a:t>
            </a:r>
            <a:r>
              <a:rPr lang="ru-RU" sz="2200" dirty="0" smtClean="0">
                <a:latin typeface="Calibri"/>
                <a:cs typeface="Calibri"/>
              </a:rPr>
              <a:t>Я</a:t>
            </a:r>
            <a:r>
              <a:rPr sz="2200" dirty="0" smtClean="0">
                <a:latin typeface="Calibri"/>
                <a:cs typeface="Calibri"/>
              </a:rPr>
              <a:t>.</a:t>
            </a:r>
            <a:r>
              <a:rPr lang="ru-RU" sz="2200" dirty="0" smtClean="0">
                <a:latin typeface="Calibri"/>
                <a:cs typeface="Calibri"/>
              </a:rPr>
              <a:t>А</a:t>
            </a:r>
            <a:r>
              <a:rPr sz="2200" dirty="0" smtClean="0">
                <a:latin typeface="Calibri"/>
                <a:cs typeface="Calibri"/>
              </a:rPr>
              <a:t>.</a:t>
            </a:r>
            <a:r>
              <a:rPr sz="2200" spc="-65" dirty="0" smtClean="0">
                <a:latin typeface="Calibri"/>
                <a:cs typeface="Calibri"/>
              </a:rPr>
              <a:t> </a:t>
            </a:r>
            <a:r>
              <a:rPr lang="ru-RU" sz="2200" spc="-10" dirty="0" smtClean="0">
                <a:latin typeface="Calibri"/>
                <a:cs typeface="Calibri"/>
              </a:rPr>
              <a:t>Краева</a:t>
            </a:r>
            <a:endParaRPr sz="2200" dirty="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483220" y="4451730"/>
            <a:ext cx="3943350" cy="1031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200" spc="-10" dirty="0">
                <a:latin typeface="Calibri"/>
                <a:cs typeface="Calibri"/>
              </a:rPr>
              <a:t>Автор:</a:t>
            </a:r>
            <a:endParaRPr sz="220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2200" spc="-10" dirty="0" err="1" smtClean="0">
                <a:latin typeface="Calibri"/>
                <a:cs typeface="Calibri"/>
              </a:rPr>
              <a:t>студент</a:t>
            </a:r>
            <a:r>
              <a:rPr sz="2200" spc="-70" dirty="0" smtClean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группы</a:t>
            </a:r>
            <a:r>
              <a:rPr sz="2200" spc="-75" dirty="0">
                <a:latin typeface="Calibri"/>
                <a:cs typeface="Calibri"/>
              </a:rPr>
              <a:t> </a:t>
            </a:r>
            <a:r>
              <a:rPr sz="2200" spc="-25" dirty="0">
                <a:latin typeface="Calibri"/>
                <a:cs typeface="Calibri"/>
              </a:rPr>
              <a:t>ЕТ-302</a:t>
            </a:r>
            <a:endParaRPr sz="220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lang="ru-RU" sz="2200" dirty="0" smtClean="0">
                <a:latin typeface="Calibri"/>
                <a:cs typeface="Calibri"/>
              </a:rPr>
              <a:t>А.М. Доблер</a:t>
            </a:r>
            <a:endParaRPr sz="2200" dirty="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526919" y="395096"/>
            <a:ext cx="7598409" cy="1092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R="32384" algn="ctr">
              <a:lnSpc>
                <a:spcPct val="100000"/>
              </a:lnSpc>
              <a:spcBef>
                <a:spcPts val="105"/>
              </a:spcBef>
            </a:pPr>
            <a:r>
              <a:rPr sz="1400" dirty="0">
                <a:latin typeface="Calibri"/>
                <a:cs typeface="Calibri"/>
              </a:rPr>
              <a:t>МИНИСТЕРСТВО</a:t>
            </a:r>
            <a:r>
              <a:rPr sz="1400" spc="-25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НАУКИ</a:t>
            </a:r>
            <a:r>
              <a:rPr sz="1400" spc="-5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И</a:t>
            </a:r>
            <a:r>
              <a:rPr sz="1400" spc="-40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ВЫСШЕГО</a:t>
            </a:r>
            <a:r>
              <a:rPr sz="1400" spc="-55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ОБРАЗОВАНИЯ</a:t>
            </a:r>
            <a:r>
              <a:rPr sz="1400" spc="-50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РОССИЙСКОЙ</a:t>
            </a:r>
            <a:r>
              <a:rPr sz="1400" spc="-15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ФЕДЕРАЦИИ</a:t>
            </a:r>
            <a:endParaRPr sz="1400">
              <a:latin typeface="Calibri"/>
              <a:cs typeface="Calibri"/>
            </a:endParaRPr>
          </a:p>
          <a:p>
            <a:pPr marR="28575" algn="ctr">
              <a:lnSpc>
                <a:spcPct val="100000"/>
              </a:lnSpc>
            </a:pPr>
            <a:r>
              <a:rPr sz="1400" spc="-10" dirty="0">
                <a:latin typeface="Calibri"/>
                <a:cs typeface="Calibri"/>
              </a:rPr>
              <a:t>Федеральное</a:t>
            </a:r>
            <a:r>
              <a:rPr sz="1400" spc="-15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государственное </a:t>
            </a:r>
            <a:r>
              <a:rPr sz="1400" dirty="0">
                <a:latin typeface="Calibri"/>
                <a:cs typeface="Calibri"/>
              </a:rPr>
              <a:t>автономное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образовательное учреждение</a:t>
            </a:r>
            <a:r>
              <a:rPr sz="1400" spc="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высшего</a:t>
            </a:r>
            <a:r>
              <a:rPr sz="1400" spc="-5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образования</a:t>
            </a:r>
            <a:endParaRPr sz="1400">
              <a:latin typeface="Calibri"/>
              <a:cs typeface="Calibri"/>
            </a:endParaRPr>
          </a:p>
          <a:p>
            <a:pPr marL="12700" marR="5080" algn="ctr">
              <a:lnSpc>
                <a:spcPct val="100000"/>
              </a:lnSpc>
            </a:pPr>
            <a:r>
              <a:rPr sz="1400" dirty="0">
                <a:latin typeface="Calibri"/>
                <a:cs typeface="Calibri"/>
              </a:rPr>
              <a:t>«Южно-</a:t>
            </a:r>
            <a:r>
              <a:rPr sz="1400" spc="-10" dirty="0">
                <a:latin typeface="Calibri"/>
                <a:cs typeface="Calibri"/>
              </a:rPr>
              <a:t>Уральский</a:t>
            </a:r>
            <a:r>
              <a:rPr sz="1400" spc="-15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государственный</a:t>
            </a:r>
            <a:r>
              <a:rPr sz="1400" spc="10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университет</a:t>
            </a:r>
            <a:r>
              <a:rPr sz="1400" spc="10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(национальный</a:t>
            </a:r>
            <a:r>
              <a:rPr sz="1400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исследовательский</a:t>
            </a:r>
            <a:r>
              <a:rPr sz="1400" spc="25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университет)» </a:t>
            </a:r>
            <a:r>
              <a:rPr sz="1400" dirty="0">
                <a:latin typeface="Calibri"/>
                <a:cs typeface="Calibri"/>
              </a:rPr>
              <a:t>Институт</a:t>
            </a:r>
            <a:r>
              <a:rPr sz="1400" spc="-5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естественных</a:t>
            </a:r>
            <a:r>
              <a:rPr sz="1400" spc="-4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и</a:t>
            </a:r>
            <a:r>
              <a:rPr sz="1400" spc="-5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точных</a:t>
            </a:r>
            <a:r>
              <a:rPr sz="1400" spc="-55" dirty="0">
                <a:latin typeface="Calibri"/>
                <a:cs typeface="Calibri"/>
              </a:rPr>
              <a:t> </a:t>
            </a:r>
            <a:r>
              <a:rPr sz="1400" spc="-20" dirty="0">
                <a:latin typeface="Calibri"/>
                <a:cs typeface="Calibri"/>
              </a:rPr>
              <a:t>наук</a:t>
            </a:r>
            <a:endParaRPr sz="1400">
              <a:latin typeface="Calibri"/>
              <a:cs typeface="Calibri"/>
            </a:endParaRPr>
          </a:p>
          <a:p>
            <a:pPr marL="10160" algn="ctr">
              <a:lnSpc>
                <a:spcPct val="100000"/>
              </a:lnSpc>
            </a:pPr>
            <a:r>
              <a:rPr sz="1400" dirty="0">
                <a:latin typeface="Calibri"/>
                <a:cs typeface="Calibri"/>
              </a:rPr>
              <a:t>Кафедра</a:t>
            </a:r>
            <a:r>
              <a:rPr sz="1400" spc="-7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системного</a:t>
            </a:r>
            <a:r>
              <a:rPr sz="1400" spc="-70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программирования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994528" y="6070803"/>
            <a:ext cx="2204085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200" dirty="0">
                <a:latin typeface="Calibri"/>
                <a:cs typeface="Calibri"/>
              </a:rPr>
              <a:t>Челябинск,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2026</a:t>
            </a:r>
            <a:r>
              <a:rPr sz="2200" spc="-85" dirty="0">
                <a:latin typeface="Calibri"/>
                <a:cs typeface="Calibri"/>
              </a:rPr>
              <a:t> </a:t>
            </a:r>
            <a:r>
              <a:rPr sz="2200" spc="-25" dirty="0">
                <a:latin typeface="Calibri"/>
                <a:cs typeface="Calibri"/>
              </a:rPr>
              <a:t>г.</a:t>
            </a:r>
            <a:endParaRPr sz="2200">
              <a:latin typeface="Calibri"/>
              <a:cs typeface="Calibri"/>
            </a:endParaRPr>
          </a:p>
        </p:txBody>
      </p:sp>
      <p:sp>
        <p:nvSpPr>
          <p:cNvPr id="7" name="TextBox 6"/>
          <p:cNvSpPr txBox="1">
            <a:spLocks noChangeArrowheads="1"/>
          </p:cNvSpPr>
          <p:nvPr/>
        </p:nvSpPr>
        <p:spPr bwMode="auto">
          <a:xfrm>
            <a:off x="1462087" y="3635227"/>
            <a:ext cx="9267825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ru-RU" altLang="zh-CN" sz="2200" dirty="0"/>
              <a:t>02.03.02 «Фундаментальная информатика и информационные технологии»</a:t>
            </a:r>
          </a:p>
        </p:txBody>
      </p:sp>
      <p:sp>
        <p:nvSpPr>
          <p:cNvPr id="8" name="Заголовок 1"/>
          <p:cNvSpPr txBox="1">
            <a:spLocks noChangeArrowheads="1"/>
          </p:cNvSpPr>
          <p:nvPr/>
        </p:nvSpPr>
        <p:spPr>
          <a:xfrm>
            <a:off x="1219200" y="1905000"/>
            <a:ext cx="9753600" cy="1344612"/>
          </a:xfrm>
          <a:prstGeom prst="rect">
            <a:avLst/>
          </a:prstGeom>
        </p:spPr>
        <p:txBody>
          <a:bodyPr/>
          <a:lstStyle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algn="ctr">
              <a:defRPr/>
            </a:pPr>
            <a:r>
              <a:rPr lang="ru-RU" altLang="zh-CN" sz="3600" b="1" dirty="0" smtClean="0">
                <a:latin typeface="+mn-lt"/>
                <a:cs typeface="等线 Light"/>
              </a:rPr>
              <a:t>Разработка приложения для решения задач по идентификации объектов на изображениях </a:t>
            </a:r>
            <a:endParaRPr lang="ru-RU" altLang="zh-CN" sz="3600" b="1" dirty="0">
              <a:latin typeface="+mn-lt"/>
              <a:cs typeface="等线 Ligh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581591" y="228600"/>
            <a:ext cx="6878955" cy="973419"/>
          </a:xfrm>
          <a:prstGeom prst="rect">
            <a:avLst/>
          </a:prstGeom>
        </p:spPr>
        <p:txBody>
          <a:bodyPr vert="horz" wrap="square" lIns="0" tIns="41536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dirty="0"/>
              <a:t>ЦЕЛЬ</a:t>
            </a:r>
            <a:r>
              <a:rPr spc="-105" dirty="0"/>
              <a:t> </a:t>
            </a:r>
            <a:r>
              <a:rPr dirty="0"/>
              <a:t>И</a:t>
            </a:r>
            <a:r>
              <a:rPr spc="-85" dirty="0"/>
              <a:t> </a:t>
            </a:r>
            <a:r>
              <a:rPr spc="-30" dirty="0" smtClean="0"/>
              <a:t>ЗАДАЧИ</a:t>
            </a:r>
            <a:endParaRPr spc="-20" dirty="0"/>
          </a:p>
        </p:txBody>
      </p:sp>
      <p:sp>
        <p:nvSpPr>
          <p:cNvPr id="3" name="object 3"/>
          <p:cNvSpPr txBox="1"/>
          <p:nvPr/>
        </p:nvSpPr>
        <p:spPr>
          <a:xfrm>
            <a:off x="916937" y="1334488"/>
            <a:ext cx="10208261" cy="5059718"/>
          </a:xfrm>
          <a:prstGeom prst="rect">
            <a:avLst/>
          </a:prstGeom>
        </p:spPr>
        <p:txBody>
          <a:bodyPr vert="horz" wrap="square" lIns="0" tIns="57785" rIns="0" bIns="0" rtlCol="0">
            <a:spAutoFit/>
          </a:bodyPr>
          <a:lstStyle/>
          <a:p>
            <a:pPr marL="12700" marR="5080">
              <a:lnSpc>
                <a:spcPts val="2810"/>
              </a:lnSpc>
              <a:spcBef>
                <a:spcPts val="455"/>
              </a:spcBef>
            </a:pPr>
            <a:r>
              <a:rPr lang="ru-RU" sz="3200" b="1" dirty="0" smtClean="0">
                <a:latin typeface="Calibri"/>
                <a:cs typeface="Calibri"/>
              </a:rPr>
              <a:t>Цель работы</a:t>
            </a:r>
          </a:p>
          <a:p>
            <a:pPr marL="12700" marR="5080">
              <a:lnSpc>
                <a:spcPts val="2810"/>
              </a:lnSpc>
              <a:spcBef>
                <a:spcPts val="455"/>
              </a:spcBef>
            </a:pPr>
            <a:r>
              <a:rPr lang="ru-RU" sz="2200" dirty="0" smtClean="0">
                <a:latin typeface="Calibri"/>
                <a:cs typeface="Calibri"/>
              </a:rPr>
              <a:t>Разработать десктопное приложение для решения задач по идентификации и детекции объектов на изображениях</a:t>
            </a:r>
            <a:r>
              <a:rPr sz="2200" spc="-10" dirty="0" smtClean="0">
                <a:latin typeface="Calibri"/>
                <a:cs typeface="Calibri"/>
              </a:rPr>
              <a:t>.</a:t>
            </a:r>
            <a:endParaRPr lang="ru-RU" sz="2200" spc="-10" dirty="0" smtClean="0">
              <a:latin typeface="Calibri"/>
              <a:cs typeface="Calibri"/>
            </a:endParaRPr>
          </a:p>
          <a:p>
            <a:pPr marL="12700" marR="5080">
              <a:lnSpc>
                <a:spcPts val="2810"/>
              </a:lnSpc>
              <a:spcBef>
                <a:spcPts val="455"/>
              </a:spcBef>
            </a:pPr>
            <a:r>
              <a:rPr lang="ru-RU" sz="3200" b="1" spc="-10" dirty="0" smtClean="0">
                <a:latin typeface="Calibri"/>
                <a:cs typeface="Calibri"/>
              </a:rPr>
              <a:t>Задачи:</a:t>
            </a:r>
            <a:endParaRPr sz="3200" b="1" dirty="0">
              <a:latin typeface="Calibri"/>
              <a:cs typeface="Calibri"/>
            </a:endParaRPr>
          </a:p>
          <a:p>
            <a:pPr marL="354330" indent="-341630">
              <a:lnSpc>
                <a:spcPct val="100000"/>
              </a:lnSpc>
              <a:spcBef>
                <a:spcPts val="2035"/>
              </a:spcBef>
              <a:buAutoNum type="arabicPeriod"/>
              <a:tabLst>
                <a:tab pos="354330" algn="l"/>
              </a:tabLst>
            </a:pPr>
            <a:r>
              <a:rPr lang="ru-RU" sz="2200" dirty="0" smtClean="0">
                <a:latin typeface="Calibri"/>
                <a:cs typeface="Calibri"/>
              </a:rPr>
              <a:t>Провести анализ предметной области и обзор существующих решений</a:t>
            </a:r>
            <a:r>
              <a:rPr sz="2200" spc="-10" dirty="0" smtClean="0">
                <a:latin typeface="Calibri"/>
                <a:cs typeface="Calibri"/>
              </a:rPr>
              <a:t>.</a:t>
            </a:r>
            <a:endParaRPr sz="2200" dirty="0">
              <a:latin typeface="Calibri"/>
              <a:cs typeface="Calibri"/>
            </a:endParaRPr>
          </a:p>
          <a:p>
            <a:pPr marL="354330" indent="-341630">
              <a:lnSpc>
                <a:spcPct val="100000"/>
              </a:lnSpc>
              <a:spcBef>
                <a:spcPts val="2555"/>
              </a:spcBef>
              <a:buAutoNum type="arabicPeriod"/>
              <a:tabLst>
                <a:tab pos="354330" algn="l"/>
              </a:tabLst>
            </a:pPr>
            <a:r>
              <a:rPr lang="ru-RU" sz="2200" dirty="0" smtClean="0">
                <a:latin typeface="Calibri"/>
                <a:cs typeface="Calibri"/>
              </a:rPr>
              <a:t>Сформулировать требования к десктопному приложению</a:t>
            </a:r>
            <a:r>
              <a:rPr sz="2200" spc="-10" dirty="0" smtClean="0">
                <a:latin typeface="Calibri"/>
                <a:cs typeface="Calibri"/>
              </a:rPr>
              <a:t>.</a:t>
            </a:r>
            <a:endParaRPr sz="2200" dirty="0">
              <a:latin typeface="Calibri"/>
              <a:cs typeface="Calibri"/>
            </a:endParaRPr>
          </a:p>
          <a:p>
            <a:pPr marL="354330" indent="-341630">
              <a:lnSpc>
                <a:spcPct val="100000"/>
              </a:lnSpc>
              <a:spcBef>
                <a:spcPts val="2570"/>
              </a:spcBef>
              <a:buAutoNum type="arabicPeriod"/>
              <a:tabLst>
                <a:tab pos="354330" algn="l"/>
              </a:tabLst>
            </a:pPr>
            <a:r>
              <a:rPr lang="ru-RU" sz="2200" dirty="0" smtClean="0">
                <a:latin typeface="Calibri"/>
                <a:cs typeface="Calibri"/>
              </a:rPr>
              <a:t>Спроектировать</a:t>
            </a:r>
            <a:r>
              <a:rPr sz="2200" spc="-35" dirty="0" smtClean="0">
                <a:latin typeface="Calibri"/>
                <a:cs typeface="Calibri"/>
              </a:rPr>
              <a:t> </a:t>
            </a:r>
            <a:r>
              <a:rPr lang="ru-RU" sz="2200" dirty="0" smtClean="0">
                <a:latin typeface="Calibri"/>
                <a:cs typeface="Calibri"/>
              </a:rPr>
              <a:t>десктопное приложение</a:t>
            </a:r>
            <a:r>
              <a:rPr sz="2200" spc="-10" dirty="0" smtClean="0">
                <a:latin typeface="Calibri"/>
                <a:cs typeface="Calibri"/>
              </a:rPr>
              <a:t>.</a:t>
            </a:r>
            <a:endParaRPr sz="2200" dirty="0">
              <a:latin typeface="Calibri"/>
              <a:cs typeface="Calibri"/>
            </a:endParaRPr>
          </a:p>
          <a:p>
            <a:pPr marL="354965" indent="-342265">
              <a:spcBef>
                <a:spcPts val="2555"/>
              </a:spcBef>
              <a:buFontTx/>
              <a:buAutoNum type="arabicPeriod"/>
              <a:tabLst>
                <a:tab pos="354965" algn="l"/>
              </a:tabLst>
            </a:pPr>
            <a:r>
              <a:rPr lang="ru-RU" sz="2200" dirty="0" smtClean="0">
                <a:latin typeface="Calibri"/>
                <a:cs typeface="Calibri"/>
              </a:rPr>
              <a:t>Реализовать</a:t>
            </a:r>
            <a:r>
              <a:rPr lang="ru-RU" sz="2200" spc="-35" dirty="0" smtClean="0">
                <a:latin typeface="Calibri"/>
                <a:cs typeface="Calibri"/>
              </a:rPr>
              <a:t> </a:t>
            </a:r>
            <a:r>
              <a:rPr lang="ru-RU" sz="2200" dirty="0" smtClean="0">
                <a:latin typeface="Calibri"/>
                <a:cs typeface="Calibri"/>
              </a:rPr>
              <a:t>десктопное приложение</a:t>
            </a:r>
            <a:r>
              <a:rPr sz="2200" spc="-10" dirty="0" smtClean="0">
                <a:latin typeface="Calibri"/>
                <a:cs typeface="Calibri"/>
              </a:rPr>
              <a:t>.</a:t>
            </a:r>
            <a:endParaRPr sz="2200" dirty="0">
              <a:latin typeface="Calibri"/>
              <a:cs typeface="Calibri"/>
            </a:endParaRPr>
          </a:p>
          <a:p>
            <a:pPr marL="354330" indent="-341630">
              <a:lnSpc>
                <a:spcPct val="100000"/>
              </a:lnSpc>
              <a:spcBef>
                <a:spcPts val="2560"/>
              </a:spcBef>
              <a:buAutoNum type="arabicPeriod"/>
              <a:tabLst>
                <a:tab pos="354330" algn="l"/>
              </a:tabLst>
            </a:pPr>
            <a:r>
              <a:rPr lang="ru-RU" sz="2200" dirty="0" smtClean="0">
                <a:latin typeface="Calibri"/>
                <a:cs typeface="Calibri"/>
              </a:rPr>
              <a:t>Провести тестирование разработанного приложения</a:t>
            </a:r>
            <a:r>
              <a:rPr sz="2200" spc="-10" dirty="0" smtClean="0">
                <a:latin typeface="Calibri"/>
                <a:cs typeface="Calibri"/>
              </a:rPr>
              <a:t>.</a:t>
            </a:r>
            <a:endParaRPr sz="2200" dirty="0">
              <a:latin typeface="Calibri"/>
              <a:cs typeface="Calibri"/>
            </a:endParaRPr>
          </a:p>
        </p:txBody>
      </p:sp>
      <p:sp>
        <p:nvSpPr>
          <p:cNvPr id="6" name="object 4"/>
          <p:cNvSpPr txBox="1"/>
          <p:nvPr/>
        </p:nvSpPr>
        <p:spPr>
          <a:xfrm>
            <a:off x="11353800" y="6422781"/>
            <a:ext cx="461645" cy="23403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10"/>
              </a:lnSpc>
            </a:pPr>
            <a:r>
              <a:rPr lang="en-US" spc="-20" dirty="0">
                <a:solidFill>
                  <a:srgbClr val="767676"/>
                </a:solidFill>
                <a:latin typeface="Calibri"/>
                <a:cs typeface="Calibri"/>
              </a:rPr>
              <a:t>2</a:t>
            </a:r>
            <a:r>
              <a:rPr spc="-20" dirty="0" smtClean="0">
                <a:solidFill>
                  <a:srgbClr val="767676"/>
                </a:solidFill>
                <a:latin typeface="Calibri"/>
                <a:cs typeface="Calibri"/>
              </a:rPr>
              <a:t>/14</a:t>
            </a:r>
            <a:endParaRPr spc="-20" dirty="0">
              <a:solidFill>
                <a:srgbClr val="767676"/>
              </a:solidFill>
              <a:latin typeface="Calibri"/>
              <a:cs typeface="Calibri"/>
            </a:endParaRPr>
          </a:p>
        </p:txBody>
      </p:sp>
      <p:sp>
        <p:nvSpPr>
          <p:cNvPr id="5" name="Прямоугольник 4"/>
          <p:cNvSpPr/>
          <p:nvPr/>
        </p:nvSpPr>
        <p:spPr>
          <a:xfrm>
            <a:off x="831850" y="6378218"/>
            <a:ext cx="4425950" cy="3231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2700">
              <a:lnSpc>
                <a:spcPts val="1810"/>
              </a:lnSpc>
            </a:pPr>
            <a:r>
              <a:rPr lang="en-US" spc="-20" dirty="0">
                <a:solidFill>
                  <a:srgbClr val="767676"/>
                </a:solidFill>
                <a:latin typeface="Calibri"/>
                <a:cs typeface="Calibri"/>
              </a:rPr>
              <a:t>https://github.com/GFooX9/CourseWork2026</a:t>
            </a:r>
            <a:endParaRPr lang="ru-RU" spc="-20" dirty="0">
              <a:solidFill>
                <a:srgbClr val="767676"/>
              </a:solidFill>
              <a:latin typeface="Calibri"/>
              <a:cs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/>
          <p:nvPr/>
        </p:nvSpPr>
        <p:spPr>
          <a:xfrm>
            <a:off x="11353800" y="6422781"/>
            <a:ext cx="461645" cy="23403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10"/>
              </a:lnSpc>
            </a:pPr>
            <a:r>
              <a:rPr spc="-20" dirty="0" smtClean="0">
                <a:solidFill>
                  <a:srgbClr val="767676"/>
                </a:solidFill>
                <a:latin typeface="Calibri"/>
                <a:cs typeface="Calibri"/>
              </a:rPr>
              <a:t>3/14</a:t>
            </a:r>
            <a:endParaRPr spc="-20" dirty="0">
              <a:solidFill>
                <a:srgbClr val="767676"/>
              </a:solidFill>
              <a:latin typeface="Calibri"/>
              <a:cs typeface="Calibri"/>
            </a:endParaRP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84200" rIns="0" bIns="0" rtlCol="0">
            <a:spAutoFit/>
          </a:bodyPr>
          <a:lstStyle/>
          <a:p>
            <a:pPr marL="1556385">
              <a:lnSpc>
                <a:spcPct val="100000"/>
              </a:lnSpc>
              <a:spcBef>
                <a:spcPts val="100"/>
              </a:spcBef>
            </a:pPr>
            <a:r>
              <a:rPr spc="-25" dirty="0"/>
              <a:t>АКТУАЛЬНОСТЬ</a:t>
            </a:r>
            <a:r>
              <a:rPr spc="-130" dirty="0"/>
              <a:t> </a:t>
            </a:r>
            <a:r>
              <a:rPr spc="-35" dirty="0"/>
              <a:t>РАЗРАБОТКИ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974545"/>
            <a:ext cx="10136505" cy="28450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105"/>
              </a:spcBef>
              <a:buFont typeface="Arial MT"/>
              <a:buChar char="•"/>
              <a:tabLst>
                <a:tab pos="241300" algn="l"/>
              </a:tabLst>
            </a:pPr>
            <a:r>
              <a:rPr lang="ru-RU" sz="2200" spc="-10" dirty="0" smtClean="0">
                <a:latin typeface="Calibri"/>
                <a:cs typeface="Calibri"/>
              </a:rPr>
              <a:t>Технологический фактор: Экспоненциальный рост визуальных данных требует автоматизации детекции в реальном времени.</a:t>
            </a:r>
            <a:endParaRPr sz="2200" dirty="0">
              <a:latin typeface="Calibri"/>
              <a:cs typeface="Calibri"/>
            </a:endParaRPr>
          </a:p>
          <a:p>
            <a:pPr marL="241300" marR="498475" indent="-228600">
              <a:lnSpc>
                <a:spcPct val="150000"/>
              </a:lnSpc>
              <a:spcBef>
                <a:spcPts val="1000"/>
              </a:spcBef>
              <a:buFont typeface="Arial MT"/>
              <a:buChar char="•"/>
              <a:tabLst>
                <a:tab pos="241300" algn="l"/>
              </a:tabLst>
            </a:pPr>
            <a:r>
              <a:rPr lang="ru-RU" sz="2200" dirty="0" smtClean="0">
                <a:latin typeface="Calibri"/>
                <a:cs typeface="Calibri"/>
              </a:rPr>
              <a:t>Прикладной фактор: Необходимость адаптации SOTA-моделей (YOLO) к узкоспециализированным задачам</a:t>
            </a:r>
            <a:r>
              <a:rPr lang="ru-RU" sz="2200" dirty="0">
                <a:latin typeface="Calibri"/>
                <a:cs typeface="Calibri"/>
              </a:rPr>
              <a:t>.</a:t>
            </a:r>
            <a:endParaRPr sz="2200" dirty="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2555"/>
              </a:spcBef>
              <a:buFont typeface="Arial MT"/>
              <a:buChar char="•"/>
              <a:tabLst>
                <a:tab pos="241300" algn="l"/>
              </a:tabLst>
            </a:pPr>
            <a:r>
              <a:rPr lang="ru-RU" sz="2200" dirty="0" smtClean="0">
                <a:latin typeface="Calibri"/>
                <a:cs typeface="Calibri"/>
              </a:rPr>
              <a:t>Инженерный фактор: Внедрение сложных ИИ-алгоритмов невозможно без создания интуитивного и автономного GUI.</a:t>
            </a:r>
            <a:endParaRPr sz="2200" dirty="0">
              <a:latin typeface="Calibri"/>
              <a:cs typeface="Calibri"/>
            </a:endParaRPr>
          </a:p>
        </p:txBody>
      </p:sp>
      <p:sp>
        <p:nvSpPr>
          <p:cNvPr id="6" name="Прямоугольник 5"/>
          <p:cNvSpPr/>
          <p:nvPr/>
        </p:nvSpPr>
        <p:spPr>
          <a:xfrm>
            <a:off x="831850" y="6378218"/>
            <a:ext cx="4425950" cy="3231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2700">
              <a:lnSpc>
                <a:spcPts val="1810"/>
              </a:lnSpc>
            </a:pPr>
            <a:r>
              <a:rPr lang="en-US" spc="-20" dirty="0">
                <a:solidFill>
                  <a:srgbClr val="767676"/>
                </a:solidFill>
                <a:latin typeface="Calibri"/>
                <a:cs typeface="Calibri"/>
              </a:rPr>
              <a:t>https://github.com/GFooX9/CourseWork2026</a:t>
            </a:r>
            <a:endParaRPr lang="ru-RU" spc="-20" dirty="0">
              <a:solidFill>
                <a:srgbClr val="767676"/>
              </a:solidFill>
              <a:latin typeface="Calibri"/>
              <a:cs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267961" y="331470"/>
            <a:ext cx="3656329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ОБЗОР</a:t>
            </a:r>
            <a:r>
              <a:rPr spc="-105" dirty="0"/>
              <a:t> </a:t>
            </a:r>
            <a:r>
              <a:rPr spc="-10" dirty="0"/>
              <a:t>АНАЛОГОВ</a:t>
            </a:r>
          </a:p>
        </p:txBody>
      </p:sp>
      <p:graphicFrame>
        <p:nvGraphicFramePr>
          <p:cNvPr id="3" name="object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72950814"/>
              </p:ext>
            </p:extLst>
          </p:nvPr>
        </p:nvGraphicFramePr>
        <p:xfrm>
          <a:off x="311150" y="1112011"/>
          <a:ext cx="11548110" cy="426059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260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05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05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8770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09575">
                <a:tc>
                  <a:txBody>
                    <a:bodyPr/>
                    <a:lstStyle/>
                    <a:p>
                      <a:pPr marL="620395">
                        <a:lnSpc>
                          <a:spcPct val="100000"/>
                        </a:lnSpc>
                        <a:spcBef>
                          <a:spcPts val="700"/>
                        </a:spcBef>
                      </a:pPr>
                      <a:r>
                        <a:rPr sz="2400" b="1" spc="-10" dirty="0">
                          <a:latin typeface="Calibri"/>
                          <a:cs typeface="Calibri"/>
                        </a:rPr>
                        <a:t>Критерий</a:t>
                      </a:r>
                      <a:endParaRPr sz="2400" dirty="0">
                        <a:latin typeface="Calibri"/>
                        <a:cs typeface="Calibri"/>
                      </a:endParaRPr>
                    </a:p>
                  </a:txBody>
                  <a:tcPr marL="0" marR="0" marT="8890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79388" indent="0">
                        <a:lnSpc>
                          <a:spcPct val="100000"/>
                        </a:lnSpc>
                        <a:spcBef>
                          <a:spcPts val="700"/>
                        </a:spcBef>
                      </a:pPr>
                      <a:r>
                        <a:rPr lang="en-US" sz="2400" b="1" spc="-10" dirty="0" err="1" smtClean="0">
                          <a:latin typeface="Calibri"/>
                          <a:cs typeface="Calibri"/>
                        </a:rPr>
                        <a:t>Roboflow</a:t>
                      </a:r>
                      <a:endParaRPr sz="2400" dirty="0">
                        <a:latin typeface="Calibri"/>
                        <a:cs typeface="Calibri"/>
                      </a:endParaRPr>
                    </a:p>
                  </a:txBody>
                  <a:tcPr marL="0" marR="0" marT="8890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31140">
                        <a:lnSpc>
                          <a:spcPct val="100000"/>
                        </a:lnSpc>
                        <a:spcBef>
                          <a:spcPts val="700"/>
                        </a:spcBef>
                      </a:pPr>
                      <a:r>
                        <a:rPr lang="en-US" sz="2400" b="1" spc="-10" dirty="0" smtClean="0">
                          <a:latin typeface="Calibri"/>
                          <a:cs typeface="Calibri"/>
                        </a:rPr>
                        <a:t>Google Lens</a:t>
                      </a:r>
                      <a:endParaRPr sz="2400" dirty="0">
                        <a:latin typeface="Calibri"/>
                        <a:cs typeface="Calibri"/>
                      </a:endParaRPr>
                    </a:p>
                  </a:txBody>
                  <a:tcPr marL="0" marR="0" marT="8890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68288" indent="0">
                        <a:lnSpc>
                          <a:spcPct val="100000"/>
                        </a:lnSpc>
                        <a:spcBef>
                          <a:spcPts val="700"/>
                        </a:spcBef>
                      </a:pPr>
                      <a:r>
                        <a:rPr lang="en-US" sz="2400" b="1" spc="-10" dirty="0" err="1" smtClean="0">
                          <a:latin typeface="Calibri"/>
                          <a:cs typeface="Calibri"/>
                        </a:rPr>
                        <a:t>Detectron</a:t>
                      </a:r>
                      <a:r>
                        <a:rPr lang="en-US" sz="2400" b="1" spc="-10" dirty="0" smtClean="0">
                          <a:latin typeface="Calibri"/>
                          <a:cs typeface="Calibri"/>
                        </a:rPr>
                        <a:t> 2</a:t>
                      </a:r>
                      <a:endParaRPr sz="2400" dirty="0">
                        <a:latin typeface="Calibri"/>
                        <a:cs typeface="Calibri"/>
                      </a:endParaRPr>
                    </a:p>
                  </a:txBody>
                  <a:tcPr marL="0" marR="0" marT="8890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79388" indent="0">
                        <a:lnSpc>
                          <a:spcPct val="100000"/>
                        </a:lnSpc>
                        <a:spcBef>
                          <a:spcPts val="700"/>
                        </a:spcBef>
                      </a:pPr>
                      <a:r>
                        <a:rPr lang="en-US" sz="2400" b="1" spc="-10" dirty="0" smtClean="0">
                          <a:latin typeface="Calibri"/>
                          <a:cs typeface="Calibri"/>
                        </a:rPr>
                        <a:t>Vision Pro AI</a:t>
                      </a:r>
                      <a:endParaRPr sz="2400" dirty="0">
                        <a:latin typeface="Calibri"/>
                        <a:cs typeface="Calibri"/>
                      </a:endParaRPr>
                    </a:p>
                  </a:txBody>
                  <a:tcPr marL="0" marR="0" marT="8890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16635">
                <a:tc>
                  <a:txBody>
                    <a:bodyPr/>
                    <a:lstStyle/>
                    <a:p>
                      <a:pPr marL="68580">
                        <a:lnSpc>
                          <a:spcPct val="100000"/>
                        </a:lnSpc>
                        <a:spcBef>
                          <a:spcPts val="705"/>
                        </a:spcBef>
                      </a:pPr>
                      <a:r>
                        <a:rPr lang="ru-RU" sz="2400" spc="-10" dirty="0" smtClean="0">
                          <a:latin typeface="Calibri"/>
                          <a:cs typeface="Calibri"/>
                        </a:rPr>
                        <a:t>Автономная локальная работа</a:t>
                      </a:r>
                      <a:endParaRPr sz="2400" dirty="0">
                        <a:latin typeface="Calibri"/>
                        <a:cs typeface="Calibri"/>
                      </a:endParaRPr>
                    </a:p>
                  </a:txBody>
                  <a:tcPr marL="0" marR="0" marT="895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ct val="100000"/>
                        </a:lnSpc>
                        <a:spcBef>
                          <a:spcPts val="705"/>
                        </a:spcBef>
                      </a:pPr>
                      <a:r>
                        <a:rPr lang="ru-RU" sz="2400" spc="-25" dirty="0" smtClean="0">
                          <a:latin typeface="Calibri"/>
                          <a:cs typeface="Calibri"/>
                        </a:rPr>
                        <a:t>Нет</a:t>
                      </a:r>
                      <a:endParaRPr sz="2400" dirty="0">
                        <a:latin typeface="Calibri"/>
                        <a:cs typeface="Calibri"/>
                      </a:endParaRPr>
                    </a:p>
                  </a:txBody>
                  <a:tcPr marL="0" marR="0" marT="895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54545"/>
                    </a:solidFill>
                  </a:tcPr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ct val="100000"/>
                        </a:lnSpc>
                        <a:spcBef>
                          <a:spcPts val="705"/>
                        </a:spcBef>
                      </a:pPr>
                      <a:r>
                        <a:rPr sz="2400" spc="-25" dirty="0">
                          <a:solidFill>
                            <a:schemeClr val="tx1"/>
                          </a:solidFill>
                          <a:latin typeface="Calibri"/>
                          <a:ea typeface="+mn-ea"/>
                          <a:cs typeface="Calibri"/>
                        </a:rPr>
                        <a:t>Нет</a:t>
                      </a:r>
                    </a:p>
                  </a:txBody>
                  <a:tcPr marL="0" marR="0" marT="895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54545"/>
                    </a:solidFill>
                  </a:tcPr>
                </a:tc>
                <a:tc>
                  <a:txBody>
                    <a:bodyPr/>
                    <a:lstStyle/>
                    <a:p>
                      <a:pPr marL="69215">
                        <a:lnSpc>
                          <a:spcPct val="100000"/>
                        </a:lnSpc>
                        <a:spcBef>
                          <a:spcPts val="705"/>
                        </a:spcBef>
                      </a:pPr>
                      <a:r>
                        <a:rPr lang="ru-RU" sz="2400" spc="-25" dirty="0" smtClean="0">
                          <a:latin typeface="Calibri"/>
                          <a:cs typeface="Calibri"/>
                        </a:rPr>
                        <a:t>Да</a:t>
                      </a:r>
                      <a:endParaRPr sz="2400" dirty="0">
                        <a:latin typeface="Calibri"/>
                        <a:cs typeface="Calibri"/>
                      </a:endParaRPr>
                    </a:p>
                  </a:txBody>
                  <a:tcPr marL="0" marR="0" marT="895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69850">
                        <a:lnSpc>
                          <a:spcPct val="100000"/>
                        </a:lnSpc>
                        <a:spcBef>
                          <a:spcPts val="705"/>
                        </a:spcBef>
                      </a:pPr>
                      <a:r>
                        <a:rPr sz="2400" spc="-25" dirty="0">
                          <a:latin typeface="Calibri"/>
                          <a:cs typeface="Calibri"/>
                        </a:rPr>
                        <a:t>Да</a:t>
                      </a:r>
                      <a:endParaRPr sz="2400" dirty="0">
                        <a:latin typeface="Calibri"/>
                        <a:cs typeface="Calibri"/>
                      </a:endParaRPr>
                    </a:p>
                  </a:txBody>
                  <a:tcPr marL="0" marR="0" marT="895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21894">
                <a:tc>
                  <a:txBody>
                    <a:bodyPr/>
                    <a:lstStyle/>
                    <a:p>
                      <a:pPr marL="68580">
                        <a:lnSpc>
                          <a:spcPct val="100000"/>
                        </a:lnSpc>
                        <a:spcBef>
                          <a:spcPts val="705"/>
                        </a:spcBef>
                      </a:pPr>
                      <a:r>
                        <a:rPr lang="ru-RU" sz="2400" spc="-10" dirty="0" smtClean="0">
                          <a:latin typeface="Calibri"/>
                          <a:cs typeface="Calibri"/>
                        </a:rPr>
                        <a:t>Графический</a:t>
                      </a:r>
                      <a:r>
                        <a:rPr lang="ru-RU" sz="2400" spc="-10" baseline="0" dirty="0" smtClean="0">
                          <a:latin typeface="Calibri"/>
                          <a:cs typeface="Calibri"/>
                        </a:rPr>
                        <a:t> интерфейс</a:t>
                      </a:r>
                      <a:endParaRPr sz="2400" dirty="0">
                        <a:latin typeface="Calibri"/>
                        <a:cs typeface="Calibri"/>
                      </a:endParaRPr>
                    </a:p>
                  </a:txBody>
                  <a:tcPr marL="0" marR="0" marT="895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ct val="100000"/>
                        </a:lnSpc>
                        <a:spcBef>
                          <a:spcPts val="705"/>
                        </a:spcBef>
                      </a:pPr>
                      <a:r>
                        <a:rPr lang="ru-RU" sz="2400" spc="-25" dirty="0" smtClean="0">
                          <a:latin typeface="Calibri"/>
                          <a:cs typeface="Calibri"/>
                        </a:rPr>
                        <a:t>Да</a:t>
                      </a:r>
                      <a:endParaRPr sz="2400" dirty="0">
                        <a:latin typeface="Calibri"/>
                        <a:cs typeface="Calibri"/>
                      </a:endParaRPr>
                    </a:p>
                  </a:txBody>
                  <a:tcPr marL="0" marR="0" marT="895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ct val="100000"/>
                        </a:lnSpc>
                        <a:spcBef>
                          <a:spcPts val="705"/>
                        </a:spcBef>
                      </a:pPr>
                      <a:r>
                        <a:rPr lang="ru-RU" sz="2400" spc="-25" dirty="0" smtClean="0">
                          <a:latin typeface="Calibri"/>
                          <a:cs typeface="Calibri"/>
                        </a:rPr>
                        <a:t>Да</a:t>
                      </a:r>
                      <a:endParaRPr sz="2400" dirty="0">
                        <a:latin typeface="Calibri"/>
                        <a:cs typeface="Calibri"/>
                      </a:endParaRPr>
                    </a:p>
                  </a:txBody>
                  <a:tcPr marL="0" marR="0" marT="895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69215">
                        <a:lnSpc>
                          <a:spcPct val="100000"/>
                        </a:lnSpc>
                        <a:spcBef>
                          <a:spcPts val="705"/>
                        </a:spcBef>
                      </a:pPr>
                      <a:r>
                        <a:rPr lang="ru-RU" sz="2400" spc="-25" dirty="0" smtClean="0">
                          <a:latin typeface="Calibri"/>
                          <a:cs typeface="Calibri"/>
                        </a:rPr>
                        <a:t>Нет</a:t>
                      </a:r>
                      <a:endParaRPr sz="2400" dirty="0">
                        <a:latin typeface="Calibri"/>
                        <a:cs typeface="Calibri"/>
                      </a:endParaRPr>
                    </a:p>
                  </a:txBody>
                  <a:tcPr marL="0" marR="0" marT="895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54545"/>
                    </a:solidFill>
                  </a:tcPr>
                </a:tc>
                <a:tc>
                  <a:txBody>
                    <a:bodyPr/>
                    <a:lstStyle/>
                    <a:p>
                      <a:pPr marL="69850">
                        <a:lnSpc>
                          <a:spcPct val="100000"/>
                        </a:lnSpc>
                        <a:spcBef>
                          <a:spcPts val="705"/>
                        </a:spcBef>
                      </a:pPr>
                      <a:r>
                        <a:rPr sz="2400" spc="-25" dirty="0">
                          <a:latin typeface="Calibri"/>
                          <a:cs typeface="Calibri"/>
                        </a:rPr>
                        <a:t>Да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895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93319">
                <a:tc>
                  <a:txBody>
                    <a:bodyPr/>
                    <a:lstStyle/>
                    <a:p>
                      <a:pPr marL="68580">
                        <a:lnSpc>
                          <a:spcPct val="100000"/>
                        </a:lnSpc>
                        <a:spcBef>
                          <a:spcPts val="705"/>
                        </a:spcBef>
                      </a:pPr>
                      <a:r>
                        <a:rPr lang="ru-RU" sz="2400" spc="-10" dirty="0" smtClean="0">
                          <a:latin typeface="Calibri"/>
                          <a:cs typeface="Calibri"/>
                        </a:rPr>
                        <a:t>Кастомная детекция объектов</a:t>
                      </a:r>
                      <a:endParaRPr sz="2400" dirty="0">
                        <a:latin typeface="Calibri"/>
                        <a:cs typeface="Calibri"/>
                      </a:endParaRPr>
                    </a:p>
                  </a:txBody>
                  <a:tcPr marL="0" marR="0" marT="895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ct val="100000"/>
                        </a:lnSpc>
                        <a:spcBef>
                          <a:spcPts val="705"/>
                        </a:spcBef>
                      </a:pPr>
                      <a:r>
                        <a:rPr sz="2400" spc="-25" dirty="0">
                          <a:latin typeface="Calibri"/>
                          <a:cs typeface="Calibri"/>
                        </a:rPr>
                        <a:t>Да</a:t>
                      </a:r>
                      <a:endParaRPr sz="2400" dirty="0">
                        <a:latin typeface="Calibri"/>
                        <a:cs typeface="Calibri"/>
                      </a:endParaRPr>
                    </a:p>
                  </a:txBody>
                  <a:tcPr marL="0" marR="0" marT="895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ct val="100000"/>
                        </a:lnSpc>
                        <a:spcBef>
                          <a:spcPts val="705"/>
                        </a:spcBef>
                      </a:pPr>
                      <a:r>
                        <a:rPr lang="ru-RU" sz="2400" spc="-25" dirty="0" smtClean="0">
                          <a:latin typeface="Calibri"/>
                          <a:cs typeface="Calibri"/>
                        </a:rPr>
                        <a:t>Нет</a:t>
                      </a:r>
                      <a:endParaRPr sz="2400" dirty="0">
                        <a:latin typeface="Calibri"/>
                        <a:cs typeface="Calibri"/>
                      </a:endParaRPr>
                    </a:p>
                  </a:txBody>
                  <a:tcPr marL="0" marR="0" marT="895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54545"/>
                    </a:solidFill>
                  </a:tcPr>
                </a:tc>
                <a:tc>
                  <a:txBody>
                    <a:bodyPr/>
                    <a:lstStyle/>
                    <a:p>
                      <a:pPr marL="69215">
                        <a:lnSpc>
                          <a:spcPct val="100000"/>
                        </a:lnSpc>
                        <a:spcBef>
                          <a:spcPts val="705"/>
                        </a:spcBef>
                      </a:pPr>
                      <a:r>
                        <a:rPr sz="2400" spc="-25" dirty="0">
                          <a:latin typeface="Calibri"/>
                          <a:cs typeface="Calibri"/>
                        </a:rPr>
                        <a:t>Да</a:t>
                      </a:r>
                      <a:endParaRPr sz="2400" dirty="0">
                        <a:latin typeface="Calibri"/>
                        <a:cs typeface="Calibri"/>
                      </a:endParaRPr>
                    </a:p>
                  </a:txBody>
                  <a:tcPr marL="0" marR="0" marT="895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69850">
                        <a:lnSpc>
                          <a:spcPct val="100000"/>
                        </a:lnSpc>
                        <a:spcBef>
                          <a:spcPts val="705"/>
                        </a:spcBef>
                      </a:pPr>
                      <a:r>
                        <a:rPr sz="2400" spc="-25" dirty="0">
                          <a:latin typeface="Calibri"/>
                          <a:cs typeface="Calibri"/>
                        </a:rPr>
                        <a:t>Да</a:t>
                      </a:r>
                      <a:endParaRPr sz="2400" dirty="0">
                        <a:latin typeface="Calibri"/>
                        <a:cs typeface="Calibri"/>
                      </a:endParaRPr>
                    </a:p>
                  </a:txBody>
                  <a:tcPr marL="0" marR="0" marT="895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74090">
                <a:tc>
                  <a:txBody>
                    <a:bodyPr/>
                    <a:lstStyle/>
                    <a:p>
                      <a:pPr marL="68580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lang="ru-RU" sz="2400" spc="-10" dirty="0" smtClean="0">
                          <a:latin typeface="Calibri"/>
                          <a:cs typeface="Calibri"/>
                        </a:rPr>
                        <a:t>Локальное</a:t>
                      </a:r>
                      <a:r>
                        <a:rPr lang="ru-RU" sz="2400" spc="-10" baseline="0" dirty="0" smtClean="0">
                          <a:latin typeface="Calibri"/>
                          <a:cs typeface="Calibri"/>
                        </a:rPr>
                        <a:t> сохранение датасетов</a:t>
                      </a:r>
                      <a:endParaRPr sz="2400" dirty="0">
                        <a:latin typeface="Calibri"/>
                        <a:cs typeface="Calibri"/>
                      </a:endParaRPr>
                    </a:p>
                  </a:txBody>
                  <a:tcPr marL="0" marR="0" marT="9017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lang="ru-RU" sz="2400" spc="-25" dirty="0" smtClean="0">
                          <a:latin typeface="Calibri"/>
                          <a:cs typeface="Calibri"/>
                        </a:rPr>
                        <a:t>Нет</a:t>
                      </a:r>
                      <a:endParaRPr sz="2400" dirty="0">
                        <a:latin typeface="Calibri"/>
                        <a:cs typeface="Calibri"/>
                      </a:endParaRPr>
                    </a:p>
                  </a:txBody>
                  <a:tcPr marL="0" marR="0" marT="9017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54545"/>
                    </a:solidFill>
                  </a:tcPr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lang="ru-RU" sz="2400" spc="-25" dirty="0" smtClean="0">
                          <a:latin typeface="Calibri"/>
                          <a:cs typeface="Calibri"/>
                        </a:rPr>
                        <a:t>Нет</a:t>
                      </a:r>
                      <a:endParaRPr sz="2400" dirty="0">
                        <a:latin typeface="Calibri"/>
                        <a:cs typeface="Calibri"/>
                      </a:endParaRPr>
                    </a:p>
                  </a:txBody>
                  <a:tcPr marL="0" marR="0" marT="9017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54545"/>
                    </a:solidFill>
                  </a:tcPr>
                </a:tc>
                <a:tc>
                  <a:txBody>
                    <a:bodyPr/>
                    <a:lstStyle/>
                    <a:p>
                      <a:pPr marL="69215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sz="2400" spc="-25" dirty="0">
                          <a:latin typeface="Calibri"/>
                          <a:cs typeface="Calibri"/>
                        </a:rPr>
                        <a:t>Да</a:t>
                      </a:r>
                      <a:endParaRPr sz="2400" dirty="0">
                        <a:latin typeface="Calibri"/>
                        <a:cs typeface="Calibri"/>
                      </a:endParaRPr>
                    </a:p>
                  </a:txBody>
                  <a:tcPr marL="0" marR="0" marT="9017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69850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sz="2400" spc="-25" dirty="0">
                          <a:latin typeface="Calibri"/>
                          <a:cs typeface="Calibri"/>
                        </a:rPr>
                        <a:t>Да</a:t>
                      </a:r>
                      <a:endParaRPr sz="2400" dirty="0">
                        <a:latin typeface="Calibri"/>
                        <a:cs typeface="Calibri"/>
                      </a:endParaRPr>
                    </a:p>
                  </a:txBody>
                  <a:tcPr marL="0" marR="0" marT="9017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Прямоугольник 5"/>
          <p:cNvSpPr/>
          <p:nvPr/>
        </p:nvSpPr>
        <p:spPr>
          <a:xfrm>
            <a:off x="831850" y="6378218"/>
            <a:ext cx="4425950" cy="3231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2700">
              <a:lnSpc>
                <a:spcPts val="1810"/>
              </a:lnSpc>
            </a:pPr>
            <a:r>
              <a:rPr lang="en-US" spc="-20" dirty="0">
                <a:solidFill>
                  <a:srgbClr val="767676"/>
                </a:solidFill>
                <a:latin typeface="Calibri"/>
                <a:cs typeface="Calibri"/>
              </a:rPr>
              <a:t>https://github.com/GFooX9/CourseWork2026</a:t>
            </a:r>
            <a:endParaRPr lang="ru-RU" spc="-20" dirty="0">
              <a:solidFill>
                <a:srgbClr val="767676"/>
              </a:solidFill>
              <a:latin typeface="Calibri"/>
              <a:cs typeface="Calibri"/>
            </a:endParaRPr>
          </a:p>
        </p:txBody>
      </p:sp>
      <p:sp>
        <p:nvSpPr>
          <p:cNvPr id="7" name="object 4"/>
          <p:cNvSpPr txBox="1"/>
          <p:nvPr/>
        </p:nvSpPr>
        <p:spPr>
          <a:xfrm>
            <a:off x="11368405" y="6422781"/>
            <a:ext cx="461645" cy="23403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10"/>
              </a:lnSpc>
            </a:pPr>
            <a:r>
              <a:rPr lang="en-US" spc="-20" dirty="0">
                <a:solidFill>
                  <a:srgbClr val="767676"/>
                </a:solidFill>
                <a:latin typeface="Calibri"/>
                <a:cs typeface="Calibri"/>
              </a:rPr>
              <a:t>4</a:t>
            </a:r>
            <a:r>
              <a:rPr spc="-20" dirty="0" smtClean="0">
                <a:solidFill>
                  <a:srgbClr val="767676"/>
                </a:solidFill>
                <a:latin typeface="Calibri"/>
                <a:cs typeface="Calibri"/>
              </a:rPr>
              <a:t>/14</a:t>
            </a:r>
            <a:endParaRPr spc="-20" dirty="0">
              <a:solidFill>
                <a:srgbClr val="767676"/>
              </a:solidFill>
              <a:latin typeface="Calibri"/>
              <a:cs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30" dirty="0"/>
              <a:t>ДИАГРАММА</a:t>
            </a:r>
            <a:r>
              <a:rPr spc="-150" dirty="0"/>
              <a:t> </a:t>
            </a:r>
            <a:r>
              <a:rPr spc="-10" dirty="0"/>
              <a:t>ВАРИАНТОВ</a:t>
            </a:r>
            <a:r>
              <a:rPr spc="-140" dirty="0"/>
              <a:t> </a:t>
            </a:r>
            <a:r>
              <a:rPr spc="-10" dirty="0"/>
              <a:t>ИСПОЛЬЗОВАНИЯ</a:t>
            </a:r>
          </a:p>
        </p:txBody>
      </p:sp>
      <p:pic>
        <p:nvPicPr>
          <p:cNvPr id="3" name="object 3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06589" y="1071803"/>
            <a:ext cx="5178821" cy="5542524"/>
          </a:xfrm>
          <a:prstGeom prst="rect">
            <a:avLst/>
          </a:prstGeom>
        </p:spPr>
      </p:pic>
      <p:sp>
        <p:nvSpPr>
          <p:cNvPr id="5" name="object 4"/>
          <p:cNvSpPr txBox="1"/>
          <p:nvPr/>
        </p:nvSpPr>
        <p:spPr>
          <a:xfrm>
            <a:off x="11353800" y="6422781"/>
            <a:ext cx="461645" cy="23403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10"/>
              </a:lnSpc>
            </a:pPr>
            <a:r>
              <a:rPr lang="en-US" spc="-20" dirty="0">
                <a:solidFill>
                  <a:srgbClr val="767676"/>
                </a:solidFill>
                <a:latin typeface="Calibri"/>
                <a:cs typeface="Calibri"/>
              </a:rPr>
              <a:t>5</a:t>
            </a:r>
            <a:r>
              <a:rPr spc="-20" dirty="0" smtClean="0">
                <a:solidFill>
                  <a:srgbClr val="767676"/>
                </a:solidFill>
                <a:latin typeface="Calibri"/>
                <a:cs typeface="Calibri"/>
              </a:rPr>
              <a:t>/14</a:t>
            </a:r>
            <a:endParaRPr spc="-20" dirty="0">
              <a:solidFill>
                <a:srgbClr val="767676"/>
              </a:solidFill>
              <a:latin typeface="Calibri"/>
              <a:cs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40105" rIns="0" bIns="0" rtlCol="0">
            <a:spAutoFit/>
          </a:bodyPr>
          <a:lstStyle/>
          <a:p>
            <a:pPr marL="1495425">
              <a:lnSpc>
                <a:spcPct val="100000"/>
              </a:lnSpc>
              <a:spcBef>
                <a:spcPts val="100"/>
              </a:spcBef>
            </a:pPr>
            <a:r>
              <a:rPr spc="-25" dirty="0"/>
              <a:t>ДИАГРАММА</a:t>
            </a:r>
            <a:r>
              <a:rPr spc="-155" dirty="0"/>
              <a:t> </a:t>
            </a:r>
            <a:r>
              <a:rPr spc="-10" dirty="0"/>
              <a:t>КОМПОНЕНТОВ</a:t>
            </a:r>
          </a:p>
        </p:txBody>
      </p:sp>
      <p:sp>
        <p:nvSpPr>
          <p:cNvPr id="5" name="object 4"/>
          <p:cNvSpPr txBox="1"/>
          <p:nvPr/>
        </p:nvSpPr>
        <p:spPr>
          <a:xfrm>
            <a:off x="11353800" y="6422781"/>
            <a:ext cx="461645" cy="23403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10"/>
              </a:lnSpc>
            </a:pPr>
            <a:r>
              <a:rPr lang="en-US" spc="-20" dirty="0">
                <a:solidFill>
                  <a:srgbClr val="767676"/>
                </a:solidFill>
                <a:latin typeface="Calibri"/>
                <a:cs typeface="Calibri"/>
              </a:rPr>
              <a:t>6</a:t>
            </a:r>
            <a:r>
              <a:rPr spc="-20" dirty="0" smtClean="0">
                <a:solidFill>
                  <a:srgbClr val="767676"/>
                </a:solidFill>
                <a:latin typeface="Calibri"/>
                <a:cs typeface="Calibri"/>
              </a:rPr>
              <a:t>/14</a:t>
            </a:r>
            <a:endParaRPr spc="-20" dirty="0">
              <a:solidFill>
                <a:srgbClr val="767676"/>
              </a:solidFill>
              <a:latin typeface="Calibri"/>
              <a:cs typeface="Calibri"/>
            </a:endParaRPr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95400" y="1245580"/>
            <a:ext cx="9428059" cy="4989373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133725" y="104647"/>
            <a:ext cx="592391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30" dirty="0"/>
              <a:t>ДИАГРАММА</a:t>
            </a:r>
            <a:r>
              <a:rPr spc="-135" dirty="0"/>
              <a:t> </a:t>
            </a:r>
            <a:r>
              <a:rPr spc="-10" dirty="0"/>
              <a:t>ДЕЯТЕЛЬНОСТИ</a:t>
            </a:r>
          </a:p>
        </p:txBody>
      </p:sp>
      <p:pic>
        <p:nvPicPr>
          <p:cNvPr id="3" name="object 3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76100" y="678687"/>
            <a:ext cx="6868097" cy="5874513"/>
          </a:xfrm>
          <a:prstGeom prst="rect">
            <a:avLst/>
          </a:prstGeom>
        </p:spPr>
      </p:pic>
      <p:sp>
        <p:nvSpPr>
          <p:cNvPr id="5" name="object 4"/>
          <p:cNvSpPr txBox="1"/>
          <p:nvPr/>
        </p:nvSpPr>
        <p:spPr>
          <a:xfrm>
            <a:off x="11353800" y="6422781"/>
            <a:ext cx="461645" cy="23403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10"/>
              </a:lnSpc>
            </a:pPr>
            <a:r>
              <a:rPr lang="en-US" spc="-20" dirty="0">
                <a:solidFill>
                  <a:srgbClr val="767676"/>
                </a:solidFill>
                <a:latin typeface="Calibri"/>
                <a:cs typeface="Calibri"/>
              </a:rPr>
              <a:t>7</a:t>
            </a:r>
            <a:r>
              <a:rPr spc="-20" dirty="0" smtClean="0">
                <a:solidFill>
                  <a:srgbClr val="767676"/>
                </a:solidFill>
                <a:latin typeface="Calibri"/>
                <a:cs typeface="Calibri"/>
              </a:rPr>
              <a:t>/14</a:t>
            </a:r>
            <a:endParaRPr spc="-20" dirty="0">
              <a:solidFill>
                <a:srgbClr val="767676"/>
              </a:solidFill>
              <a:latin typeface="Calibri"/>
              <a:cs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19379" rIns="0" bIns="0" rtlCol="0">
            <a:spAutoFit/>
          </a:bodyPr>
          <a:lstStyle/>
          <a:p>
            <a:pPr marL="658495">
              <a:lnSpc>
                <a:spcPct val="100000"/>
              </a:lnSpc>
              <a:spcBef>
                <a:spcPts val="100"/>
              </a:spcBef>
            </a:pPr>
            <a:r>
              <a:rPr spc="-30" dirty="0"/>
              <a:t>ДИАГРАММА</a:t>
            </a:r>
            <a:r>
              <a:rPr spc="-135" dirty="0"/>
              <a:t> </a:t>
            </a:r>
            <a:r>
              <a:rPr spc="-10" dirty="0"/>
              <a:t>ПОСЛЕДОВАТЕЛЬНОСТИ</a:t>
            </a:r>
          </a:p>
        </p:txBody>
      </p:sp>
      <p:pic>
        <p:nvPicPr>
          <p:cNvPr id="3" name="object 3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8000" y="936836"/>
            <a:ext cx="6206154" cy="5762109"/>
          </a:xfrm>
          <a:prstGeom prst="rect">
            <a:avLst/>
          </a:prstGeom>
        </p:spPr>
      </p:pic>
      <p:sp>
        <p:nvSpPr>
          <p:cNvPr id="5" name="object 4"/>
          <p:cNvSpPr txBox="1"/>
          <p:nvPr/>
        </p:nvSpPr>
        <p:spPr>
          <a:xfrm>
            <a:off x="11353800" y="6422781"/>
            <a:ext cx="461645" cy="23403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10"/>
              </a:lnSpc>
            </a:pPr>
            <a:r>
              <a:rPr lang="en-US" spc="-20" dirty="0">
                <a:solidFill>
                  <a:srgbClr val="767676"/>
                </a:solidFill>
                <a:latin typeface="Calibri"/>
                <a:cs typeface="Calibri"/>
              </a:rPr>
              <a:t>8</a:t>
            </a:r>
            <a:r>
              <a:rPr spc="-20" dirty="0" smtClean="0">
                <a:solidFill>
                  <a:srgbClr val="767676"/>
                </a:solidFill>
                <a:latin typeface="Calibri"/>
                <a:cs typeface="Calibri"/>
              </a:rPr>
              <a:t>/14</a:t>
            </a:r>
            <a:endParaRPr spc="-20" dirty="0">
              <a:solidFill>
                <a:srgbClr val="767676"/>
              </a:solidFill>
              <a:latin typeface="Calibri"/>
              <a:cs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84200" rIns="0" bIns="0" rtlCol="0">
            <a:spAutoFit/>
          </a:bodyPr>
          <a:lstStyle/>
          <a:p>
            <a:pPr marL="211455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СРЕДСТВА</a:t>
            </a:r>
            <a:r>
              <a:rPr spc="-130" dirty="0"/>
              <a:t> </a:t>
            </a:r>
            <a:r>
              <a:rPr spc="-40" dirty="0"/>
              <a:t>РАЗРАБОТКИ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42645" y="1259027"/>
            <a:ext cx="10972800" cy="4735271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50000"/>
              </a:lnSpc>
              <a:spcBef>
                <a:spcPts val="105"/>
              </a:spcBef>
              <a:tabLst>
                <a:tab pos="241300" algn="l"/>
              </a:tabLst>
            </a:pPr>
            <a:r>
              <a:rPr lang="ru-RU" sz="2400" dirty="0" smtClean="0">
                <a:latin typeface="Calibri"/>
                <a:cs typeface="Calibri"/>
              </a:rPr>
              <a:t>Среда разработки</a:t>
            </a:r>
            <a:r>
              <a:rPr lang="en-US" sz="2400" dirty="0" smtClean="0">
                <a:latin typeface="Calibri"/>
                <a:cs typeface="Calibri"/>
              </a:rPr>
              <a:t> </a:t>
            </a:r>
            <a:r>
              <a:rPr lang="ru-RU" sz="2400" dirty="0" smtClean="0">
                <a:latin typeface="Calibri"/>
                <a:cs typeface="Calibri"/>
              </a:rPr>
              <a:t>- </a:t>
            </a:r>
            <a:r>
              <a:rPr lang="en-US" sz="2400" dirty="0" err="1" smtClean="0">
                <a:latin typeface="Calibri"/>
                <a:cs typeface="Calibri"/>
              </a:rPr>
              <a:t>JetBrains</a:t>
            </a:r>
            <a:r>
              <a:rPr lang="en-US" sz="2400" dirty="0" smtClean="0">
                <a:latin typeface="Calibri"/>
                <a:cs typeface="Calibri"/>
              </a:rPr>
              <a:t> </a:t>
            </a:r>
            <a:r>
              <a:rPr lang="en-US" sz="2400" dirty="0" err="1" smtClean="0">
                <a:latin typeface="Calibri"/>
                <a:cs typeface="Calibri"/>
              </a:rPr>
              <a:t>PyCharm</a:t>
            </a:r>
            <a:r>
              <a:rPr lang="ru-RU" sz="2400" dirty="0">
                <a:latin typeface="Calibri"/>
                <a:cs typeface="Calibri"/>
              </a:rPr>
              <a:t/>
            </a:r>
            <a:br>
              <a:rPr lang="ru-RU" sz="2400" dirty="0">
                <a:latin typeface="Calibri"/>
                <a:cs typeface="Calibri"/>
              </a:rPr>
            </a:br>
            <a:r>
              <a:rPr lang="ru-RU" sz="2400" dirty="0" smtClean="0">
                <a:latin typeface="Calibri"/>
                <a:cs typeface="Calibri"/>
              </a:rPr>
              <a:t>Язык программирования - </a:t>
            </a:r>
            <a:r>
              <a:rPr lang="en-US" sz="2400" dirty="0" smtClean="0">
                <a:latin typeface="Calibri"/>
                <a:cs typeface="Calibri"/>
              </a:rPr>
              <a:t>Python v3.12.5 </a:t>
            </a:r>
            <a:endParaRPr lang="ru-RU" sz="2400" dirty="0" smtClean="0">
              <a:latin typeface="Calibri"/>
              <a:cs typeface="Calibri"/>
            </a:endParaRPr>
          </a:p>
          <a:p>
            <a:pPr marL="12700">
              <a:lnSpc>
                <a:spcPct val="150000"/>
              </a:lnSpc>
              <a:spcBef>
                <a:spcPts val="105"/>
              </a:spcBef>
              <a:tabLst>
                <a:tab pos="241300" algn="l"/>
              </a:tabLst>
            </a:pPr>
            <a:r>
              <a:rPr lang="ru-RU" sz="2400" dirty="0" smtClean="0">
                <a:latin typeface="Calibri"/>
                <a:cs typeface="Calibri"/>
              </a:rPr>
              <a:t>Библиотеки используемые в проекте:</a:t>
            </a:r>
            <a:endParaRPr lang="en-US" sz="2400" dirty="0" smtClean="0">
              <a:latin typeface="Calibri"/>
              <a:cs typeface="Calibri"/>
            </a:endParaRPr>
          </a:p>
          <a:p>
            <a:pPr marL="355600" indent="-342900">
              <a:lnSpc>
                <a:spcPct val="150000"/>
              </a:lnSpc>
              <a:buFont typeface="Arial" panose="020B0604020202020204" pitchFamily="34" charset="0"/>
              <a:buChar char="•"/>
              <a:tabLst>
                <a:tab pos="241300" algn="l"/>
              </a:tabLst>
            </a:pPr>
            <a:r>
              <a:rPr lang="ru-RU" sz="2200" dirty="0" smtClean="0">
                <a:latin typeface="Calibri"/>
                <a:cs typeface="Calibri"/>
              </a:rPr>
              <a:t>Построения </a:t>
            </a:r>
            <a:r>
              <a:rPr lang="en-US" sz="2200" dirty="0" smtClean="0">
                <a:latin typeface="Calibri"/>
                <a:cs typeface="Calibri"/>
              </a:rPr>
              <a:t>GUI</a:t>
            </a:r>
            <a:r>
              <a:rPr lang="ru-RU" sz="2200" dirty="0" smtClean="0">
                <a:latin typeface="Calibri"/>
                <a:cs typeface="Calibri"/>
              </a:rPr>
              <a:t>: PyQt6</a:t>
            </a:r>
            <a:r>
              <a:rPr lang="en-US" sz="2200" dirty="0" smtClean="0">
                <a:latin typeface="Calibri"/>
                <a:cs typeface="Calibri"/>
              </a:rPr>
              <a:t> v6.7.1; </a:t>
            </a:r>
            <a:endParaRPr lang="ru-RU" sz="2200" dirty="0" smtClean="0">
              <a:latin typeface="Calibri"/>
              <a:cs typeface="Calibri"/>
            </a:endParaRPr>
          </a:p>
          <a:p>
            <a:pPr marL="355600" indent="-342900">
              <a:lnSpc>
                <a:spcPct val="150000"/>
              </a:lnSpc>
              <a:buFont typeface="Arial" panose="020B0604020202020204" pitchFamily="34" charset="0"/>
              <a:buChar char="•"/>
              <a:tabLst>
                <a:tab pos="241300" algn="l"/>
              </a:tabLst>
            </a:pPr>
            <a:r>
              <a:rPr lang="ru-RU" sz="2200" spc="-10" dirty="0" smtClean="0">
                <a:latin typeface="Calibri"/>
                <a:cs typeface="Calibri"/>
              </a:rPr>
              <a:t>Детекция и идентификация объектов: </a:t>
            </a:r>
            <a:r>
              <a:rPr lang="en-US" sz="2200" spc="-10" dirty="0" err="1" smtClean="0">
                <a:latin typeface="Calibri"/>
                <a:cs typeface="Calibri"/>
              </a:rPr>
              <a:t>ultralytics</a:t>
            </a:r>
            <a:r>
              <a:rPr lang="ru-RU" sz="2200" spc="-10" dirty="0" smtClean="0">
                <a:latin typeface="Calibri"/>
                <a:cs typeface="Calibri"/>
              </a:rPr>
              <a:t> </a:t>
            </a:r>
            <a:r>
              <a:rPr lang="en-US" sz="2200" spc="-10" dirty="0" smtClean="0">
                <a:latin typeface="Calibri"/>
                <a:cs typeface="Calibri"/>
              </a:rPr>
              <a:t>v8.3.40 , </a:t>
            </a:r>
            <a:r>
              <a:rPr lang="ru-RU" sz="2200" dirty="0" err="1" smtClean="0">
                <a:latin typeface="Calibri"/>
                <a:cs typeface="Calibri"/>
              </a:rPr>
              <a:t>EasyOCR</a:t>
            </a:r>
            <a:r>
              <a:rPr lang="en-US" sz="2200" dirty="0" smtClean="0">
                <a:latin typeface="Calibri"/>
                <a:cs typeface="Calibri"/>
              </a:rPr>
              <a:t> v1.7.2;</a:t>
            </a:r>
            <a:r>
              <a:rPr lang="ru-RU" sz="2200" dirty="0" smtClean="0">
                <a:latin typeface="Calibri"/>
                <a:cs typeface="Calibri"/>
              </a:rPr>
              <a:t> </a:t>
            </a:r>
          </a:p>
          <a:p>
            <a:pPr marL="355600" indent="-342900">
              <a:lnSpc>
                <a:spcPct val="150000"/>
              </a:lnSpc>
              <a:buFont typeface="Arial" panose="020B0604020202020204" pitchFamily="34" charset="0"/>
              <a:buChar char="•"/>
              <a:tabLst>
                <a:tab pos="241300" algn="l"/>
              </a:tabLst>
            </a:pPr>
            <a:r>
              <a:rPr lang="ru-RU" sz="2200" dirty="0" smtClean="0">
                <a:latin typeface="Calibri"/>
                <a:cs typeface="Calibri"/>
              </a:rPr>
              <a:t>Работа с изображениями: </a:t>
            </a:r>
            <a:r>
              <a:rPr lang="en-US" sz="2200" dirty="0" err="1" smtClean="0">
                <a:latin typeface="Calibri"/>
                <a:cs typeface="Calibri"/>
              </a:rPr>
              <a:t>opencv</a:t>
            </a:r>
            <a:r>
              <a:rPr lang="en-US" sz="2200" dirty="0" smtClean="0">
                <a:latin typeface="Calibri"/>
                <a:cs typeface="Calibri"/>
              </a:rPr>
              <a:t> v4.10.0.84 , Pillow v10.4.0</a:t>
            </a:r>
            <a:r>
              <a:rPr lang="en-US" sz="2200" dirty="0">
                <a:latin typeface="Calibri"/>
                <a:cs typeface="Calibri"/>
              </a:rPr>
              <a:t>;</a:t>
            </a:r>
            <a:endParaRPr lang="ru-RU" sz="2200" dirty="0" smtClean="0">
              <a:latin typeface="Calibri"/>
              <a:cs typeface="Calibri"/>
            </a:endParaRPr>
          </a:p>
          <a:p>
            <a:pPr marL="355600" indent="-342900">
              <a:lnSpc>
                <a:spcPct val="150000"/>
              </a:lnSpc>
              <a:buFont typeface="Arial" panose="020B0604020202020204" pitchFamily="34" charset="0"/>
              <a:buChar char="•"/>
              <a:tabLst>
                <a:tab pos="241300" algn="l"/>
              </a:tabLst>
            </a:pPr>
            <a:r>
              <a:rPr lang="ru-RU" sz="2200" dirty="0" smtClean="0">
                <a:latin typeface="Calibri"/>
                <a:cs typeface="Calibri"/>
              </a:rPr>
              <a:t>Экспорт </a:t>
            </a:r>
            <a:r>
              <a:rPr lang="en-US" sz="2200" dirty="0" smtClean="0">
                <a:latin typeface="Calibri"/>
                <a:cs typeface="Calibri"/>
              </a:rPr>
              <a:t>PDF </a:t>
            </a:r>
            <a:r>
              <a:rPr lang="ru-RU" sz="2200" dirty="0" smtClean="0">
                <a:latin typeface="Calibri"/>
                <a:cs typeface="Calibri"/>
              </a:rPr>
              <a:t>и </a:t>
            </a:r>
            <a:r>
              <a:rPr lang="en-US" sz="2200" dirty="0" smtClean="0">
                <a:latin typeface="Calibri"/>
                <a:cs typeface="Calibri"/>
              </a:rPr>
              <a:t>EXCEL: </a:t>
            </a:r>
            <a:r>
              <a:rPr lang="en-US" sz="2200" dirty="0" err="1" smtClean="0">
                <a:latin typeface="Calibri"/>
                <a:cs typeface="Calibri"/>
              </a:rPr>
              <a:t>reportlab</a:t>
            </a:r>
            <a:r>
              <a:rPr lang="en-US" sz="2200" dirty="0" smtClean="0">
                <a:latin typeface="Calibri"/>
                <a:cs typeface="Calibri"/>
              </a:rPr>
              <a:t> v4.2.5 , </a:t>
            </a:r>
            <a:r>
              <a:rPr lang="en-US" sz="2200" dirty="0" err="1" smtClean="0">
                <a:latin typeface="Calibri"/>
                <a:cs typeface="Calibri"/>
              </a:rPr>
              <a:t>openpyxl</a:t>
            </a:r>
            <a:r>
              <a:rPr lang="en-US" sz="2200" dirty="0" smtClean="0">
                <a:latin typeface="Calibri"/>
                <a:cs typeface="Calibri"/>
              </a:rPr>
              <a:t> v3.1.5;</a:t>
            </a:r>
            <a:endParaRPr lang="ru-RU" sz="2200" dirty="0" smtClean="0">
              <a:latin typeface="Calibri"/>
              <a:cs typeface="Calibri"/>
            </a:endParaRPr>
          </a:p>
          <a:p>
            <a:pPr marL="355600" indent="-342900">
              <a:lnSpc>
                <a:spcPct val="150000"/>
              </a:lnSpc>
              <a:buFont typeface="Arial" panose="020B0604020202020204" pitchFamily="34" charset="0"/>
              <a:buChar char="•"/>
              <a:tabLst>
                <a:tab pos="241300" algn="l"/>
              </a:tabLst>
            </a:pPr>
            <a:r>
              <a:rPr lang="ru-RU" sz="2200" dirty="0" smtClean="0">
                <a:latin typeface="Calibri"/>
                <a:cs typeface="Calibri"/>
              </a:rPr>
              <a:t>Обработка массивов и генерация графиков: pandas v2.2.3</a:t>
            </a:r>
            <a:r>
              <a:rPr lang="en-US" sz="2200" dirty="0">
                <a:latin typeface="Calibri"/>
                <a:cs typeface="Calibri"/>
              </a:rPr>
              <a:t> </a:t>
            </a:r>
            <a:r>
              <a:rPr lang="en-US" sz="2200" dirty="0" smtClean="0">
                <a:latin typeface="Calibri"/>
                <a:cs typeface="Calibri"/>
              </a:rPr>
              <a:t>,</a:t>
            </a:r>
            <a:r>
              <a:rPr lang="ru-RU" sz="2200" dirty="0" smtClean="0">
                <a:latin typeface="Calibri"/>
                <a:cs typeface="Calibri"/>
              </a:rPr>
              <a:t> </a:t>
            </a:r>
            <a:r>
              <a:rPr lang="en-US" sz="2200" dirty="0" err="1" smtClean="0">
                <a:latin typeface="Calibri"/>
                <a:cs typeface="Calibri"/>
              </a:rPr>
              <a:t>matplotlib</a:t>
            </a:r>
            <a:r>
              <a:rPr lang="ru-RU" sz="2200" dirty="0" smtClean="0">
                <a:latin typeface="Calibri"/>
                <a:cs typeface="Calibri"/>
              </a:rPr>
              <a:t> </a:t>
            </a:r>
            <a:r>
              <a:rPr lang="en-US" sz="2200" dirty="0" smtClean="0">
                <a:latin typeface="Calibri"/>
                <a:cs typeface="Calibri"/>
              </a:rPr>
              <a:t>v3.9.2; </a:t>
            </a:r>
          </a:p>
          <a:p>
            <a:pPr marL="355600" indent="-342900">
              <a:lnSpc>
                <a:spcPct val="150000"/>
              </a:lnSpc>
              <a:buFont typeface="Arial" panose="020B0604020202020204" pitchFamily="34" charset="0"/>
              <a:buChar char="•"/>
              <a:tabLst>
                <a:tab pos="241300" algn="l"/>
              </a:tabLst>
            </a:pPr>
            <a:r>
              <a:rPr lang="ru-RU" sz="2200" dirty="0" smtClean="0">
                <a:latin typeface="Calibri"/>
                <a:cs typeface="Calibri"/>
              </a:rPr>
              <a:t>СУБД</a:t>
            </a:r>
            <a:r>
              <a:rPr lang="en-US" sz="2200" dirty="0">
                <a:latin typeface="Calibri"/>
                <a:cs typeface="Calibri"/>
              </a:rPr>
              <a:t>:</a:t>
            </a:r>
            <a:r>
              <a:rPr lang="ru-RU" sz="2200" dirty="0" smtClean="0">
                <a:latin typeface="Calibri"/>
                <a:cs typeface="Calibri"/>
              </a:rPr>
              <a:t> </a:t>
            </a:r>
            <a:r>
              <a:rPr lang="ru-RU" sz="2200" dirty="0" err="1" smtClean="0">
                <a:latin typeface="Calibri"/>
                <a:cs typeface="Calibri"/>
              </a:rPr>
              <a:t>SQLite</a:t>
            </a:r>
            <a:r>
              <a:rPr lang="en-US" sz="2200" dirty="0">
                <a:latin typeface="Calibri"/>
                <a:cs typeface="Calibri"/>
              </a:rPr>
              <a:t>.</a:t>
            </a:r>
            <a:endParaRPr lang="ru-RU" sz="2200" dirty="0" smtClean="0">
              <a:latin typeface="Calibri"/>
              <a:cs typeface="Calibri"/>
            </a:endParaRPr>
          </a:p>
        </p:txBody>
      </p:sp>
      <p:sp>
        <p:nvSpPr>
          <p:cNvPr id="11" name="object 4"/>
          <p:cNvSpPr txBox="1"/>
          <p:nvPr/>
        </p:nvSpPr>
        <p:spPr>
          <a:xfrm>
            <a:off x="11353800" y="6422781"/>
            <a:ext cx="461645" cy="23403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10"/>
              </a:lnSpc>
            </a:pPr>
            <a:r>
              <a:rPr lang="en-US" spc="-20" dirty="0">
                <a:solidFill>
                  <a:srgbClr val="767676"/>
                </a:solidFill>
                <a:latin typeface="Calibri"/>
                <a:cs typeface="Calibri"/>
              </a:rPr>
              <a:t>9</a:t>
            </a:r>
            <a:r>
              <a:rPr spc="-20" dirty="0" smtClean="0">
                <a:solidFill>
                  <a:srgbClr val="767676"/>
                </a:solidFill>
                <a:latin typeface="Calibri"/>
                <a:cs typeface="Calibri"/>
              </a:rPr>
              <a:t>/14</a:t>
            </a:r>
            <a:endParaRPr spc="-20" dirty="0">
              <a:solidFill>
                <a:srgbClr val="767676"/>
              </a:solidFill>
              <a:latin typeface="Calibri"/>
              <a:cs typeface="Calibri"/>
            </a:endParaRPr>
          </a:p>
        </p:txBody>
      </p:sp>
      <p:sp>
        <p:nvSpPr>
          <p:cNvPr id="5" name="Прямоугольник 4"/>
          <p:cNvSpPr/>
          <p:nvPr/>
        </p:nvSpPr>
        <p:spPr>
          <a:xfrm>
            <a:off x="831850" y="6378218"/>
            <a:ext cx="4425950" cy="3231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2700">
              <a:lnSpc>
                <a:spcPts val="1810"/>
              </a:lnSpc>
            </a:pPr>
            <a:r>
              <a:rPr lang="en-US" spc="-20" dirty="0">
                <a:solidFill>
                  <a:srgbClr val="767676"/>
                </a:solidFill>
                <a:latin typeface="Calibri"/>
                <a:cs typeface="Calibri"/>
              </a:rPr>
              <a:t>https://github.com/GFooX9/CourseWork2026</a:t>
            </a:r>
            <a:endParaRPr lang="ru-RU" spc="-20" dirty="0">
              <a:solidFill>
                <a:srgbClr val="767676"/>
              </a:solidFill>
              <a:latin typeface="Calibri"/>
              <a:cs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905000" y="228600"/>
            <a:ext cx="8881109" cy="674543"/>
          </a:xfrm>
          <a:prstGeom prst="rect">
            <a:avLst/>
          </a:prstGeom>
        </p:spPr>
        <p:txBody>
          <a:bodyPr vert="horz" wrap="square" lIns="0" tIns="119379" rIns="0" bIns="0" rtlCol="0">
            <a:spAutoFit/>
          </a:bodyPr>
          <a:lstStyle/>
          <a:p>
            <a:pPr marL="2417445">
              <a:lnSpc>
                <a:spcPct val="100000"/>
              </a:lnSpc>
              <a:spcBef>
                <a:spcPts val="100"/>
              </a:spcBef>
            </a:pPr>
            <a:r>
              <a:rPr spc="-35" dirty="0" smtClean="0"/>
              <a:t>ГЛАВН</a:t>
            </a:r>
            <a:r>
              <a:rPr lang="ru-RU" spc="-35" dirty="0" smtClean="0"/>
              <a:t>ЫЙ ЭКРАН</a:t>
            </a:r>
            <a:endParaRPr spc="-10" dirty="0"/>
          </a:p>
        </p:txBody>
      </p:sp>
      <p:sp>
        <p:nvSpPr>
          <p:cNvPr id="5" name="object 4"/>
          <p:cNvSpPr txBox="1"/>
          <p:nvPr/>
        </p:nvSpPr>
        <p:spPr>
          <a:xfrm>
            <a:off x="11353800" y="6422781"/>
            <a:ext cx="609600" cy="2308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10"/>
              </a:lnSpc>
            </a:pPr>
            <a:r>
              <a:rPr lang="en-US" spc="-20" dirty="0" smtClean="0">
                <a:solidFill>
                  <a:srgbClr val="767676"/>
                </a:solidFill>
                <a:latin typeface="Calibri"/>
                <a:cs typeface="Calibri"/>
              </a:rPr>
              <a:t>10</a:t>
            </a:r>
            <a:r>
              <a:rPr spc="-20" dirty="0" smtClean="0">
                <a:solidFill>
                  <a:srgbClr val="767676"/>
                </a:solidFill>
                <a:latin typeface="Calibri"/>
                <a:cs typeface="Calibri"/>
              </a:rPr>
              <a:t>/14</a:t>
            </a:r>
            <a:endParaRPr spc="-20" dirty="0">
              <a:solidFill>
                <a:srgbClr val="767676"/>
              </a:solidFill>
              <a:latin typeface="Calibri"/>
              <a:cs typeface="Calibri"/>
            </a:endParaRPr>
          </a:p>
        </p:txBody>
      </p:sp>
      <p:sp>
        <p:nvSpPr>
          <p:cNvPr id="6" name="Прямоугольник 5"/>
          <p:cNvSpPr/>
          <p:nvPr/>
        </p:nvSpPr>
        <p:spPr>
          <a:xfrm>
            <a:off x="831850" y="6378218"/>
            <a:ext cx="4425950" cy="3231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2700">
              <a:lnSpc>
                <a:spcPts val="1810"/>
              </a:lnSpc>
            </a:pPr>
            <a:r>
              <a:rPr lang="en-US" spc="-20" dirty="0">
                <a:solidFill>
                  <a:srgbClr val="767676"/>
                </a:solidFill>
                <a:latin typeface="Calibri"/>
                <a:cs typeface="Calibri"/>
              </a:rPr>
              <a:t>https://github.com/GFooX9/CourseWork2026</a:t>
            </a:r>
            <a:endParaRPr lang="ru-RU" spc="-20" dirty="0">
              <a:solidFill>
                <a:srgbClr val="767676"/>
              </a:solidFill>
              <a:latin typeface="Calibri"/>
              <a:cs typeface="Calibri"/>
            </a:endParaRPr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4600" y="912108"/>
            <a:ext cx="7086600" cy="5207085"/>
          </a:xfrm>
          <a:prstGeom prst="rect">
            <a:avLst/>
          </a:prstGeom>
          <a:ln w="12700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540960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655445" y="212852"/>
            <a:ext cx="8881109" cy="674543"/>
          </a:xfrm>
          <a:prstGeom prst="rect">
            <a:avLst/>
          </a:prstGeom>
        </p:spPr>
        <p:txBody>
          <a:bodyPr vert="horz" wrap="square" lIns="0" tIns="119379" rIns="0" bIns="0" rtlCol="0">
            <a:spAutoFit/>
          </a:bodyPr>
          <a:lstStyle/>
          <a:p>
            <a:pPr marL="2417445">
              <a:lnSpc>
                <a:spcPct val="100000"/>
              </a:lnSpc>
              <a:spcBef>
                <a:spcPts val="100"/>
              </a:spcBef>
            </a:pPr>
            <a:r>
              <a:rPr lang="ru-RU" spc="-35" dirty="0" smtClean="0"/>
              <a:t>ЭКРАН ИДЕНТИФИКАТОРА</a:t>
            </a:r>
            <a:endParaRPr spc="-10" dirty="0"/>
          </a:p>
        </p:txBody>
      </p:sp>
      <p:sp>
        <p:nvSpPr>
          <p:cNvPr id="5" name="object 4"/>
          <p:cNvSpPr txBox="1"/>
          <p:nvPr/>
        </p:nvSpPr>
        <p:spPr>
          <a:xfrm>
            <a:off x="11353800" y="6422781"/>
            <a:ext cx="609600" cy="2308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10"/>
              </a:lnSpc>
            </a:pPr>
            <a:r>
              <a:rPr lang="en-US" spc="-20" dirty="0" smtClean="0">
                <a:solidFill>
                  <a:srgbClr val="767676"/>
                </a:solidFill>
                <a:latin typeface="Calibri"/>
                <a:cs typeface="Calibri"/>
              </a:rPr>
              <a:t>10</a:t>
            </a:r>
            <a:r>
              <a:rPr spc="-20" dirty="0" smtClean="0">
                <a:solidFill>
                  <a:srgbClr val="767676"/>
                </a:solidFill>
                <a:latin typeface="Calibri"/>
                <a:cs typeface="Calibri"/>
              </a:rPr>
              <a:t>/14</a:t>
            </a:r>
            <a:endParaRPr spc="-20" dirty="0">
              <a:solidFill>
                <a:srgbClr val="767676"/>
              </a:solidFill>
              <a:latin typeface="Calibri"/>
              <a:cs typeface="Calibri"/>
            </a:endParaRPr>
          </a:p>
        </p:txBody>
      </p:sp>
      <p:sp>
        <p:nvSpPr>
          <p:cNvPr id="6" name="Прямоугольник 5"/>
          <p:cNvSpPr/>
          <p:nvPr/>
        </p:nvSpPr>
        <p:spPr>
          <a:xfrm>
            <a:off x="831850" y="6378218"/>
            <a:ext cx="4425950" cy="3231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2700">
              <a:lnSpc>
                <a:spcPts val="1810"/>
              </a:lnSpc>
            </a:pPr>
            <a:r>
              <a:rPr lang="en-US" spc="-20" dirty="0">
                <a:solidFill>
                  <a:srgbClr val="767676"/>
                </a:solidFill>
                <a:latin typeface="Calibri"/>
                <a:cs typeface="Calibri"/>
              </a:rPr>
              <a:t>https://github.com/GFooX9/CourseWork2026</a:t>
            </a:r>
            <a:endParaRPr lang="ru-RU" spc="-20" dirty="0">
              <a:solidFill>
                <a:srgbClr val="767676"/>
              </a:solidFill>
              <a:latin typeface="Calibri"/>
              <a:cs typeface="Calibri"/>
            </a:endParaRPr>
          </a:p>
        </p:txBody>
      </p:sp>
      <p:pic>
        <p:nvPicPr>
          <p:cNvPr id="9" name="Рисунок 8"/>
          <p:cNvPicPr>
            <a:picLocks noChangeAspect="1"/>
          </p:cNvPicPr>
          <p:nvPr/>
        </p:nvPicPr>
        <p:blipFill rotWithShape="1">
          <a:blip r:embed="rId2"/>
          <a:srcRect/>
          <a:stretch/>
        </p:blipFill>
        <p:spPr>
          <a:xfrm>
            <a:off x="1219200" y="1066800"/>
            <a:ext cx="9720000" cy="4865541"/>
          </a:xfrm>
          <a:prstGeom prst="rect">
            <a:avLst/>
          </a:prstGeom>
          <a:ln w="12700">
            <a:solidFill>
              <a:schemeClr val="tx1"/>
            </a:solidFill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655445" y="212852"/>
            <a:ext cx="8881109" cy="674543"/>
          </a:xfrm>
          <a:prstGeom prst="rect">
            <a:avLst/>
          </a:prstGeom>
        </p:spPr>
        <p:txBody>
          <a:bodyPr vert="horz" wrap="square" lIns="0" tIns="119379" rIns="0" bIns="0" rtlCol="0">
            <a:spAutoFit/>
          </a:bodyPr>
          <a:lstStyle/>
          <a:p>
            <a:pPr marL="1211580">
              <a:lnSpc>
                <a:spcPct val="100000"/>
              </a:lnSpc>
              <a:spcBef>
                <a:spcPts val="100"/>
              </a:spcBef>
            </a:pPr>
            <a:r>
              <a:rPr lang="ru-RU" spc="-20" dirty="0" smtClean="0"/>
              <a:t>ЭКРАН ИСТОРИИ ПРОТОКОЛОВ</a:t>
            </a:r>
            <a:endParaRPr spc="-10" dirty="0"/>
          </a:p>
        </p:txBody>
      </p:sp>
      <p:sp>
        <p:nvSpPr>
          <p:cNvPr id="5" name="object 4"/>
          <p:cNvSpPr txBox="1"/>
          <p:nvPr/>
        </p:nvSpPr>
        <p:spPr>
          <a:xfrm>
            <a:off x="11353800" y="6422781"/>
            <a:ext cx="609600" cy="23403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10"/>
              </a:lnSpc>
            </a:pPr>
            <a:r>
              <a:rPr lang="en-US" spc="-20" dirty="0" smtClean="0">
                <a:solidFill>
                  <a:srgbClr val="767676"/>
                </a:solidFill>
                <a:latin typeface="Calibri"/>
                <a:cs typeface="Calibri"/>
              </a:rPr>
              <a:t>11</a:t>
            </a:r>
            <a:r>
              <a:rPr spc="-20" dirty="0" smtClean="0">
                <a:solidFill>
                  <a:srgbClr val="767676"/>
                </a:solidFill>
                <a:latin typeface="Calibri"/>
                <a:cs typeface="Calibri"/>
              </a:rPr>
              <a:t>/14</a:t>
            </a:r>
            <a:endParaRPr spc="-20" dirty="0">
              <a:solidFill>
                <a:srgbClr val="767676"/>
              </a:solidFill>
              <a:latin typeface="Calibri"/>
              <a:cs typeface="Calibri"/>
            </a:endParaRPr>
          </a:p>
        </p:txBody>
      </p:sp>
      <p:sp>
        <p:nvSpPr>
          <p:cNvPr id="6" name="Прямоугольник 5"/>
          <p:cNvSpPr/>
          <p:nvPr/>
        </p:nvSpPr>
        <p:spPr>
          <a:xfrm>
            <a:off x="831850" y="6378218"/>
            <a:ext cx="4425950" cy="3231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2700">
              <a:lnSpc>
                <a:spcPts val="1810"/>
              </a:lnSpc>
            </a:pPr>
            <a:r>
              <a:rPr lang="en-US" spc="-20" dirty="0">
                <a:solidFill>
                  <a:srgbClr val="767676"/>
                </a:solidFill>
                <a:latin typeface="Calibri"/>
                <a:cs typeface="Calibri"/>
              </a:rPr>
              <a:t>https://github.com/GFooX9/CourseWork2026</a:t>
            </a:r>
            <a:endParaRPr lang="ru-RU" spc="-20" dirty="0">
              <a:solidFill>
                <a:srgbClr val="767676"/>
              </a:solidFill>
              <a:latin typeface="Calibri"/>
              <a:cs typeface="Calibri"/>
            </a:endParaRPr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143000"/>
            <a:ext cx="9593450" cy="4572000"/>
          </a:xfrm>
          <a:prstGeom prst="rect">
            <a:avLst/>
          </a:prstGeom>
          <a:ln w="28575">
            <a:solidFill>
              <a:schemeClr val="tx1"/>
            </a:solidFill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507360" y="227457"/>
            <a:ext cx="717804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0" dirty="0"/>
              <a:t>ФУНКЦИОНАЛЬНОЕ</a:t>
            </a:r>
            <a:r>
              <a:rPr spc="-120" dirty="0"/>
              <a:t> </a:t>
            </a:r>
            <a:r>
              <a:rPr spc="-10" dirty="0"/>
              <a:t>ТЕСТИРОВАНИЕ</a:t>
            </a:r>
          </a:p>
        </p:txBody>
      </p:sp>
      <p:graphicFrame>
        <p:nvGraphicFramePr>
          <p:cNvPr id="3" name="object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83543981"/>
              </p:ext>
            </p:extLst>
          </p:nvPr>
        </p:nvGraphicFramePr>
        <p:xfrm>
          <a:off x="831850" y="821817"/>
          <a:ext cx="10515599" cy="5461582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9969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09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0260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5872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45"/>
                        </a:spcBef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 marL="1270" algn="ctr">
                        <a:lnSpc>
                          <a:spcPct val="100000"/>
                        </a:lnSpc>
                      </a:pPr>
                      <a:r>
                        <a:rPr sz="1400" b="1" spc="-50" dirty="0">
                          <a:latin typeface="Calibri"/>
                          <a:cs typeface="Calibri"/>
                        </a:rPr>
                        <a:t>№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184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495"/>
                        </a:spcBef>
                      </a:pPr>
                      <a:r>
                        <a:rPr sz="1400" b="1" spc="-10" dirty="0">
                          <a:latin typeface="Calibri"/>
                          <a:cs typeface="Calibri"/>
                        </a:rPr>
                        <a:t>Название</a:t>
                      </a:r>
                      <a:endParaRPr sz="1400" dirty="0">
                        <a:latin typeface="Calibri"/>
                        <a:cs typeface="Calibri"/>
                      </a:endParaRPr>
                    </a:p>
                    <a:p>
                      <a:pPr marL="39370" algn="ctr">
                        <a:lnSpc>
                          <a:spcPts val="1660"/>
                        </a:lnSpc>
                        <a:spcBef>
                          <a:spcPts val="840"/>
                        </a:spcBef>
                      </a:pPr>
                      <a:r>
                        <a:rPr sz="1400" b="1" spc="-10" dirty="0">
                          <a:latin typeface="Calibri"/>
                          <a:cs typeface="Calibri"/>
                        </a:rPr>
                        <a:t>теста</a:t>
                      </a:r>
                      <a:endParaRPr sz="1400" dirty="0">
                        <a:latin typeface="Calibri"/>
                        <a:cs typeface="Calibri"/>
                      </a:endParaRPr>
                    </a:p>
                  </a:txBody>
                  <a:tcPr marL="0" marR="0" marT="6286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45"/>
                        </a:spcBef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 marL="1270" algn="ctr">
                        <a:lnSpc>
                          <a:spcPct val="100000"/>
                        </a:lnSpc>
                      </a:pPr>
                      <a:r>
                        <a:rPr sz="1400" b="1" spc="-20" dirty="0">
                          <a:latin typeface="Calibri"/>
                          <a:cs typeface="Calibri"/>
                        </a:rPr>
                        <a:t>Шаги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184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495"/>
                        </a:spcBef>
                      </a:pPr>
                      <a:r>
                        <a:rPr sz="1400" b="1" spc="-10" dirty="0">
                          <a:latin typeface="Calibri"/>
                          <a:cs typeface="Calibri"/>
                        </a:rPr>
                        <a:t>Ожидаемый</a:t>
                      </a:r>
                      <a:endParaRPr sz="1400">
                        <a:latin typeface="Calibri"/>
                        <a:cs typeface="Calibri"/>
                      </a:endParaRPr>
                    </a:p>
                    <a:p>
                      <a:pPr marL="40640" algn="ctr">
                        <a:lnSpc>
                          <a:spcPts val="1660"/>
                        </a:lnSpc>
                        <a:spcBef>
                          <a:spcPts val="840"/>
                        </a:spcBef>
                      </a:pPr>
                      <a:r>
                        <a:rPr sz="1400" b="1" spc="-10" dirty="0">
                          <a:latin typeface="Calibri"/>
                          <a:cs typeface="Calibri"/>
                        </a:rPr>
                        <a:t>результат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6286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45"/>
                        </a:spcBef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 marL="499745">
                        <a:lnSpc>
                          <a:spcPct val="100000"/>
                        </a:lnSpc>
                      </a:pPr>
                      <a:r>
                        <a:rPr sz="1400" b="1" spc="-25" dirty="0">
                          <a:latin typeface="Calibri"/>
                          <a:cs typeface="Calibri"/>
                        </a:rPr>
                        <a:t>Тест</a:t>
                      </a:r>
                      <a:r>
                        <a:rPr sz="1400" b="1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b="1" spc="-10" dirty="0">
                          <a:latin typeface="Calibri"/>
                          <a:cs typeface="Calibri"/>
                        </a:rPr>
                        <a:t>пройден?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184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70261">
                <a:tc>
                  <a:txBody>
                    <a:bodyPr/>
                    <a:lstStyle/>
                    <a:p>
                      <a:pPr marL="68580">
                        <a:lnSpc>
                          <a:spcPct val="100000"/>
                        </a:lnSpc>
                        <a:spcBef>
                          <a:spcPts val="500"/>
                        </a:spcBef>
                      </a:pPr>
                      <a:r>
                        <a:rPr sz="1400" spc="-50" dirty="0">
                          <a:latin typeface="Calibri"/>
                          <a:cs typeface="Calibri"/>
                        </a:rPr>
                        <a:t>1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6350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ct val="100000"/>
                        </a:lnSpc>
                        <a:spcBef>
                          <a:spcPts val="500"/>
                        </a:spcBef>
                      </a:pPr>
                      <a:r>
                        <a:rPr lang="ru-RU" sz="1400" spc="-10" dirty="0" smtClean="0">
                          <a:latin typeface="+mn-lt"/>
                          <a:cs typeface="Calibri"/>
                        </a:rPr>
                        <a:t>Запуск комплексного ИИ-анализа</a:t>
                      </a:r>
                      <a:endParaRPr sz="1400" dirty="0">
                        <a:latin typeface="Calibri"/>
                        <a:cs typeface="Calibri"/>
                      </a:endParaRPr>
                    </a:p>
                  </a:txBody>
                  <a:tcPr marL="0" marR="0" marT="6350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42570" indent="-173990">
                        <a:lnSpc>
                          <a:spcPct val="150000"/>
                        </a:lnSpc>
                        <a:spcBef>
                          <a:spcPts val="0"/>
                        </a:spcBef>
                        <a:buAutoNum type="arabicPeriod"/>
                        <a:tabLst>
                          <a:tab pos="242570" algn="l"/>
                        </a:tabLst>
                      </a:pPr>
                      <a:r>
                        <a:rPr lang="ru-RU" sz="1400" spc="-10" dirty="0" smtClean="0">
                          <a:latin typeface="+mn-lt"/>
                          <a:cs typeface="Calibri"/>
                        </a:rPr>
                        <a:t>Выбрать изображение. </a:t>
                      </a:r>
                    </a:p>
                    <a:p>
                      <a:pPr marL="242570" indent="-173990">
                        <a:lnSpc>
                          <a:spcPct val="150000"/>
                        </a:lnSpc>
                        <a:spcBef>
                          <a:spcPts val="0"/>
                        </a:spcBef>
                        <a:buAutoNum type="arabicPeriod"/>
                        <a:tabLst>
                          <a:tab pos="242570" algn="l"/>
                        </a:tabLst>
                      </a:pPr>
                      <a:r>
                        <a:rPr lang="ru-RU" sz="1400" spc="-10" dirty="0" smtClean="0">
                          <a:latin typeface="+mn-lt"/>
                          <a:cs typeface="Calibri"/>
                        </a:rPr>
                        <a:t>Задать порог точности.</a:t>
                      </a:r>
                    </a:p>
                    <a:p>
                      <a:pPr marL="242570" indent="-173990">
                        <a:lnSpc>
                          <a:spcPct val="150000"/>
                        </a:lnSpc>
                        <a:spcBef>
                          <a:spcPts val="0"/>
                        </a:spcBef>
                        <a:buAutoNum type="arabicPeriod"/>
                        <a:tabLst>
                          <a:tab pos="242570" algn="l"/>
                        </a:tabLst>
                      </a:pPr>
                      <a:r>
                        <a:rPr lang="ru-RU" sz="1400" spc="-10" dirty="0" smtClean="0">
                          <a:latin typeface="+mn-lt"/>
                          <a:cs typeface="Calibri"/>
                        </a:rPr>
                        <a:t>Нажать «Запустить анализ».</a:t>
                      </a:r>
                      <a:endParaRPr sz="1400" dirty="0">
                        <a:latin typeface="Calibri"/>
                        <a:cs typeface="Calibri"/>
                      </a:endParaRPr>
                    </a:p>
                  </a:txBody>
                  <a:tcPr marL="0" marR="0" marT="6350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9215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ru-RU" sz="1400" spc="-10" dirty="0" smtClean="0">
                          <a:solidFill>
                            <a:schemeClr val="tx1"/>
                          </a:solidFill>
                          <a:latin typeface="Calibri"/>
                          <a:ea typeface="+mn-ea"/>
                          <a:cs typeface="Calibri"/>
                        </a:rPr>
                        <a:t>Поток </a:t>
                      </a:r>
                      <a:r>
                        <a:rPr lang="ru-RU" sz="1400" spc="-10" dirty="0" err="1" smtClean="0">
                          <a:solidFill>
                            <a:schemeClr val="tx1"/>
                          </a:solidFill>
                          <a:latin typeface="Calibri"/>
                          <a:ea typeface="+mn-ea"/>
                          <a:cs typeface="Calibri"/>
                        </a:rPr>
                        <a:t>QThread</a:t>
                      </a:r>
                      <a:r>
                        <a:rPr lang="ru-RU" sz="1400" spc="-10" dirty="0" smtClean="0">
                          <a:solidFill>
                            <a:schemeClr val="tx1"/>
                          </a:solidFill>
                          <a:latin typeface="Calibri"/>
                          <a:ea typeface="+mn-ea"/>
                          <a:cs typeface="Calibri"/>
                        </a:rPr>
                        <a:t> выполняет инференс без зависания GUI</a:t>
                      </a:r>
                      <a:endParaRPr sz="1400" spc="-10" dirty="0">
                        <a:solidFill>
                          <a:schemeClr val="tx1"/>
                        </a:solidFill>
                        <a:latin typeface="Calibri"/>
                        <a:ea typeface="+mn-ea"/>
                        <a:cs typeface="Calibri"/>
                      </a:endParaRPr>
                    </a:p>
                  </a:txBody>
                  <a:tcPr marL="0" marR="0" marT="6350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9850">
                        <a:lnSpc>
                          <a:spcPct val="100000"/>
                        </a:lnSpc>
                        <a:spcBef>
                          <a:spcPts val="500"/>
                        </a:spcBef>
                      </a:pPr>
                      <a:r>
                        <a:rPr sz="1400" spc="-25" dirty="0">
                          <a:latin typeface="Calibri"/>
                          <a:cs typeface="Calibri"/>
                        </a:rPr>
                        <a:t>Да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6350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461046">
                <a:tc>
                  <a:txBody>
                    <a:bodyPr/>
                    <a:lstStyle/>
                    <a:p>
                      <a:pPr marL="68580">
                        <a:lnSpc>
                          <a:spcPct val="100000"/>
                        </a:lnSpc>
                        <a:spcBef>
                          <a:spcPts val="500"/>
                        </a:spcBef>
                      </a:pPr>
                      <a:r>
                        <a:rPr sz="1400" spc="-50" dirty="0">
                          <a:latin typeface="Calibri"/>
                          <a:cs typeface="Calibri"/>
                        </a:rPr>
                        <a:t>2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6350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ct val="100000"/>
                        </a:lnSpc>
                        <a:spcBef>
                          <a:spcPts val="500"/>
                        </a:spcBef>
                      </a:pPr>
                      <a:r>
                        <a:rPr lang="ru-RU" sz="1400" dirty="0" smtClean="0"/>
                        <a:t>Нарезка фрагментов для </a:t>
                      </a:r>
                      <a:r>
                        <a:rPr lang="ru-RU" sz="1400" dirty="0" err="1" smtClean="0"/>
                        <a:t>датасета</a:t>
                      </a:r>
                      <a:endParaRPr sz="1400" dirty="0">
                        <a:latin typeface="Calibri"/>
                        <a:cs typeface="Calibri"/>
                      </a:endParaRPr>
                    </a:p>
                  </a:txBody>
                  <a:tcPr marL="0" marR="0" marT="6350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42570" indent="-173990" algn="l">
                        <a:lnSpc>
                          <a:spcPct val="150000"/>
                        </a:lnSpc>
                        <a:spcBef>
                          <a:spcPts val="0"/>
                        </a:spcBef>
                        <a:buAutoNum type="arabicPeriod"/>
                        <a:tabLst>
                          <a:tab pos="242570" algn="l"/>
                        </a:tabLst>
                      </a:pPr>
                      <a:r>
                        <a:rPr lang="ru-RU" sz="1400" spc="-1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Calibri"/>
                        </a:rPr>
                        <a:t>Провести анализ растра.</a:t>
                      </a:r>
                    </a:p>
                    <a:p>
                      <a:pPr marL="242570" indent="-173990" algn="l">
                        <a:lnSpc>
                          <a:spcPct val="150000"/>
                        </a:lnSpc>
                        <a:spcBef>
                          <a:spcPts val="0"/>
                        </a:spcBef>
                        <a:buAutoNum type="arabicPeriod"/>
                        <a:tabLst>
                          <a:tab pos="242570" algn="l"/>
                        </a:tabLst>
                      </a:pPr>
                      <a:r>
                        <a:rPr lang="ru-RU" sz="1400" spc="-1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Calibri"/>
                        </a:rPr>
                        <a:t>Отметить</a:t>
                      </a:r>
                      <a:r>
                        <a:rPr lang="ru-RU" sz="1400" spc="-1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Calibri"/>
                        </a:rPr>
                        <a:t> </a:t>
                      </a:r>
                      <a:r>
                        <a:rPr lang="ru-RU" sz="1400" spc="-1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Calibri"/>
                        </a:rPr>
                        <a:t>нужные объекты. </a:t>
                      </a:r>
                    </a:p>
                    <a:p>
                      <a:pPr marL="242570" indent="-173990" algn="l">
                        <a:lnSpc>
                          <a:spcPct val="150000"/>
                        </a:lnSpc>
                        <a:spcBef>
                          <a:spcPts val="0"/>
                        </a:spcBef>
                        <a:buAutoNum type="arabicPeriod"/>
                        <a:tabLst>
                          <a:tab pos="242570" algn="l"/>
                        </a:tabLst>
                      </a:pPr>
                      <a:r>
                        <a:rPr lang="ru-RU" sz="1400" spc="-1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Calibri"/>
                        </a:rPr>
                        <a:t>Подтвердить сохранение.</a:t>
                      </a:r>
                      <a:endParaRPr sz="1400" spc="-1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Calibri"/>
                      </a:endParaRPr>
                    </a:p>
                  </a:txBody>
                  <a:tcPr marL="0" marR="0" marT="6350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9215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ru-RU" sz="1400" dirty="0" smtClean="0"/>
                        <a:t>Программа вырезает </a:t>
                      </a:r>
                      <a:r>
                        <a:rPr lang="ru-RU" sz="1400" dirty="0" err="1" smtClean="0"/>
                        <a:t>кропы</a:t>
                      </a:r>
                      <a:r>
                        <a:rPr lang="ru-RU" sz="1400" dirty="0" smtClean="0"/>
                        <a:t> объектов и сохраняет в локальные папки</a:t>
                      </a:r>
                      <a:endParaRPr sz="1400" dirty="0">
                        <a:latin typeface="Calibri"/>
                        <a:cs typeface="Calibri"/>
                      </a:endParaRPr>
                    </a:p>
                  </a:txBody>
                  <a:tcPr marL="0" marR="0" marT="6350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9850">
                        <a:lnSpc>
                          <a:spcPct val="100000"/>
                        </a:lnSpc>
                        <a:spcBef>
                          <a:spcPts val="500"/>
                        </a:spcBef>
                      </a:pPr>
                      <a:r>
                        <a:rPr sz="1400" spc="-25" dirty="0">
                          <a:latin typeface="Calibri"/>
                          <a:cs typeface="Calibri"/>
                        </a:rPr>
                        <a:t>Да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6350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36550">
                <a:tc>
                  <a:txBody>
                    <a:bodyPr/>
                    <a:lstStyle/>
                    <a:p>
                      <a:pPr marL="68580">
                        <a:lnSpc>
                          <a:spcPct val="100000"/>
                        </a:lnSpc>
                        <a:spcBef>
                          <a:spcPts val="505"/>
                        </a:spcBef>
                      </a:pPr>
                      <a:r>
                        <a:rPr sz="1400" spc="-50" dirty="0">
                          <a:latin typeface="Calibri"/>
                          <a:cs typeface="Calibri"/>
                        </a:rPr>
                        <a:t>3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641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ct val="100000"/>
                        </a:lnSpc>
                        <a:spcBef>
                          <a:spcPts val="505"/>
                        </a:spcBef>
                      </a:pPr>
                      <a:r>
                        <a:rPr lang="ru-RU" sz="1400" spc="-20" dirty="0" smtClean="0">
                          <a:latin typeface="+mn-lt"/>
                          <a:cs typeface="Calibri"/>
                        </a:rPr>
                        <a:t>Экспорт сводного </a:t>
                      </a:r>
                      <a:r>
                        <a:rPr lang="en-US" sz="1400" spc="-20" dirty="0" smtClean="0">
                          <a:latin typeface="+mn-lt"/>
                          <a:cs typeface="Calibri"/>
                        </a:rPr>
                        <a:t>PDF-</a:t>
                      </a:r>
                      <a:r>
                        <a:rPr lang="ru-RU" sz="1400" spc="-20" dirty="0" smtClean="0">
                          <a:latin typeface="+mn-lt"/>
                          <a:cs typeface="Calibri"/>
                        </a:rPr>
                        <a:t>отчета</a:t>
                      </a:r>
                      <a:endParaRPr sz="1400" dirty="0">
                        <a:latin typeface="Calibri"/>
                        <a:cs typeface="Calibri"/>
                      </a:endParaRPr>
                    </a:p>
                  </a:txBody>
                  <a:tcPr marL="0" marR="0" marT="641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42570" indent="-173990">
                        <a:lnSpc>
                          <a:spcPct val="100000"/>
                        </a:lnSpc>
                        <a:spcBef>
                          <a:spcPts val="505"/>
                        </a:spcBef>
                        <a:buAutoNum type="arabicPeriod"/>
                        <a:tabLst>
                          <a:tab pos="242570" algn="l"/>
                        </a:tabLst>
                      </a:pPr>
                      <a:r>
                        <a:rPr lang="ru-RU" sz="1400" spc="-10" dirty="0" smtClean="0">
                          <a:latin typeface="+mn-lt"/>
                          <a:cs typeface="Calibri"/>
                        </a:rPr>
                        <a:t>Перейти в карточку протокола</a:t>
                      </a:r>
                    </a:p>
                    <a:p>
                      <a:pPr marL="242570" indent="-173990">
                        <a:lnSpc>
                          <a:spcPct val="100000"/>
                        </a:lnSpc>
                        <a:spcBef>
                          <a:spcPts val="505"/>
                        </a:spcBef>
                        <a:buAutoNum type="arabicPeriod"/>
                        <a:tabLst>
                          <a:tab pos="242570" algn="l"/>
                        </a:tabLst>
                      </a:pPr>
                      <a:r>
                        <a:rPr lang="ru-RU" sz="1400" spc="-10" dirty="0" smtClean="0">
                          <a:latin typeface="+mn-lt"/>
                          <a:cs typeface="Calibri"/>
                        </a:rPr>
                        <a:t>Внести текстовую заметку</a:t>
                      </a:r>
                    </a:p>
                    <a:p>
                      <a:pPr marL="242570" indent="-173990">
                        <a:lnSpc>
                          <a:spcPct val="100000"/>
                        </a:lnSpc>
                        <a:spcBef>
                          <a:spcPts val="505"/>
                        </a:spcBef>
                        <a:buAutoNum type="arabicPeriod"/>
                        <a:tabLst>
                          <a:tab pos="242570" algn="l"/>
                        </a:tabLst>
                      </a:pPr>
                      <a:r>
                        <a:rPr lang="ru-RU" sz="1400" spc="-10" dirty="0" smtClean="0">
                          <a:latin typeface="+mn-lt"/>
                          <a:cs typeface="Calibri"/>
                        </a:rPr>
                        <a:t>Нажать кнопку «Экспорт в PDF»</a:t>
                      </a:r>
                      <a:endParaRPr sz="1400" dirty="0">
                        <a:latin typeface="Calibri"/>
                        <a:cs typeface="Calibri"/>
                      </a:endParaRPr>
                    </a:p>
                  </a:txBody>
                  <a:tcPr marL="0" marR="0" marT="641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9215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ru-RU" sz="1400" spc="-10" dirty="0" smtClean="0">
                          <a:solidFill>
                            <a:schemeClr val="tx1"/>
                          </a:solidFill>
                          <a:latin typeface="Calibri"/>
                          <a:ea typeface="+mn-ea"/>
                          <a:cs typeface="Calibri"/>
                        </a:rPr>
                        <a:t>Генерируется многостраничный PDF-документ с водяным знаком</a:t>
                      </a:r>
                      <a:endParaRPr sz="1400" spc="-10" dirty="0">
                        <a:solidFill>
                          <a:schemeClr val="tx1"/>
                        </a:solidFill>
                        <a:latin typeface="Calibri"/>
                        <a:ea typeface="+mn-ea"/>
                        <a:cs typeface="Calibri"/>
                      </a:endParaRPr>
                    </a:p>
                  </a:txBody>
                  <a:tcPr marL="0" marR="0" marT="641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9850">
                        <a:lnSpc>
                          <a:spcPct val="100000"/>
                        </a:lnSpc>
                        <a:spcBef>
                          <a:spcPts val="505"/>
                        </a:spcBef>
                      </a:pPr>
                      <a:r>
                        <a:rPr sz="1400" spc="-25" dirty="0">
                          <a:latin typeface="Calibri"/>
                          <a:cs typeface="Calibri"/>
                        </a:rPr>
                        <a:t>Да</a:t>
                      </a:r>
                      <a:endParaRPr sz="1400" dirty="0">
                        <a:latin typeface="Calibri"/>
                        <a:cs typeface="Calibri"/>
                      </a:endParaRPr>
                    </a:p>
                  </a:txBody>
                  <a:tcPr marL="0" marR="0" marT="641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Прямоугольник 4"/>
          <p:cNvSpPr/>
          <p:nvPr/>
        </p:nvSpPr>
        <p:spPr>
          <a:xfrm>
            <a:off x="831850" y="6378218"/>
            <a:ext cx="4425950" cy="3231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2700">
              <a:lnSpc>
                <a:spcPts val="1810"/>
              </a:lnSpc>
            </a:pPr>
            <a:r>
              <a:rPr lang="en-US" spc="-20" dirty="0">
                <a:solidFill>
                  <a:srgbClr val="767676"/>
                </a:solidFill>
                <a:latin typeface="Calibri"/>
                <a:cs typeface="Calibri"/>
              </a:rPr>
              <a:t>https://github.com/GFooX9/CourseWork2026</a:t>
            </a:r>
            <a:endParaRPr lang="ru-RU" spc="-20" dirty="0">
              <a:solidFill>
                <a:srgbClr val="767676"/>
              </a:solidFill>
              <a:latin typeface="Calibri"/>
              <a:cs typeface="Calibri"/>
            </a:endParaRPr>
          </a:p>
        </p:txBody>
      </p:sp>
      <p:sp>
        <p:nvSpPr>
          <p:cNvPr id="6" name="object 4"/>
          <p:cNvSpPr txBox="1"/>
          <p:nvPr/>
        </p:nvSpPr>
        <p:spPr>
          <a:xfrm>
            <a:off x="11353800" y="6422781"/>
            <a:ext cx="609600" cy="23403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10"/>
              </a:lnSpc>
            </a:pPr>
            <a:r>
              <a:rPr lang="en-US" spc="-20" dirty="0" smtClean="0">
                <a:solidFill>
                  <a:srgbClr val="767676"/>
                </a:solidFill>
                <a:latin typeface="Calibri"/>
                <a:cs typeface="Calibri"/>
              </a:rPr>
              <a:t>13</a:t>
            </a:r>
            <a:r>
              <a:rPr spc="-20" dirty="0" smtClean="0">
                <a:solidFill>
                  <a:srgbClr val="767676"/>
                </a:solidFill>
                <a:latin typeface="Calibri"/>
                <a:cs typeface="Calibri"/>
              </a:rPr>
              <a:t>/1</a:t>
            </a:r>
            <a:r>
              <a:rPr lang="en-US" spc="-20" dirty="0" smtClean="0">
                <a:solidFill>
                  <a:srgbClr val="767676"/>
                </a:solidFill>
                <a:latin typeface="Calibri"/>
                <a:cs typeface="Calibri"/>
              </a:rPr>
              <a:t>4</a:t>
            </a:r>
            <a:endParaRPr spc="-20" dirty="0">
              <a:solidFill>
                <a:srgbClr val="767676"/>
              </a:solidFill>
              <a:latin typeface="Calibri"/>
              <a:cs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/>
          <p:nvPr/>
        </p:nvSpPr>
        <p:spPr>
          <a:xfrm>
            <a:off x="11179556" y="6386423"/>
            <a:ext cx="577215" cy="23403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10"/>
              </a:lnSpc>
            </a:pPr>
            <a:r>
              <a:rPr sz="1800" spc="-10" dirty="0" smtClean="0">
                <a:solidFill>
                  <a:srgbClr val="767676"/>
                </a:solidFill>
                <a:latin typeface="Calibri"/>
                <a:cs typeface="Calibri"/>
              </a:rPr>
              <a:t>1</a:t>
            </a:r>
            <a:r>
              <a:rPr lang="en-US" spc="-10" dirty="0">
                <a:solidFill>
                  <a:srgbClr val="767676"/>
                </a:solidFill>
                <a:latin typeface="Calibri"/>
                <a:cs typeface="Calibri"/>
              </a:rPr>
              <a:t>4</a:t>
            </a:r>
            <a:r>
              <a:rPr sz="1800" spc="-10" dirty="0" smtClean="0">
                <a:solidFill>
                  <a:srgbClr val="767676"/>
                </a:solidFill>
                <a:latin typeface="Calibri"/>
                <a:cs typeface="Calibri"/>
              </a:rPr>
              <a:t>/1</a:t>
            </a:r>
            <a:r>
              <a:rPr lang="en-US" sz="1800" spc="-10" dirty="0" smtClean="0">
                <a:solidFill>
                  <a:srgbClr val="767676"/>
                </a:solidFill>
                <a:latin typeface="Calibri"/>
                <a:cs typeface="Calibri"/>
              </a:rPr>
              <a:t>4</a:t>
            </a:r>
            <a:endParaRPr sz="1800" dirty="0">
              <a:latin typeface="Calibri"/>
              <a:cs typeface="Calibri"/>
            </a:endParaRPr>
          </a:p>
        </p:txBody>
      </p:sp>
      <p:sp>
        <p:nvSpPr>
          <p:cNvPr id="2" name="object 2"/>
          <p:cNvSpPr txBox="1">
            <a:spLocks noGrp="1"/>
          </p:cNvSpPr>
          <p:nvPr>
            <p:ph type="body" idx="1"/>
          </p:nvPr>
        </p:nvSpPr>
        <p:spPr>
          <a:xfrm>
            <a:off x="916939" y="1974545"/>
            <a:ext cx="9619615" cy="3747821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05"/>
              </a:spcBef>
              <a:buFont typeface="Calibri"/>
              <a:buAutoNum type="arabicPeriod"/>
              <a:tabLst>
                <a:tab pos="354965" algn="l"/>
              </a:tabLst>
            </a:pPr>
            <a:r>
              <a:rPr lang="ru-RU" dirty="0" smtClean="0"/>
              <a:t>Проведен анализ </a:t>
            </a:r>
            <a:r>
              <a:rPr lang="ru-RU" dirty="0"/>
              <a:t>предметной области и обзор существующих решений</a:t>
            </a:r>
            <a:r>
              <a:rPr lang="ru-RU" dirty="0" smtClean="0"/>
              <a:t>.</a:t>
            </a:r>
            <a:endParaRPr spc="-10" dirty="0"/>
          </a:p>
          <a:p>
            <a:pPr marL="354330" indent="-341630">
              <a:lnSpc>
                <a:spcPct val="100000"/>
              </a:lnSpc>
              <a:spcBef>
                <a:spcPts val="2560"/>
              </a:spcBef>
              <a:buAutoNum type="arabicPeriod"/>
              <a:tabLst>
                <a:tab pos="354330" algn="l"/>
              </a:tabLst>
            </a:pPr>
            <a:r>
              <a:rPr lang="ru-RU" dirty="0" smtClean="0"/>
              <a:t>Сформулированы </a:t>
            </a:r>
            <a:r>
              <a:rPr lang="ru-RU" dirty="0"/>
              <a:t>требования к десктопному приложению</a:t>
            </a:r>
            <a:r>
              <a:rPr lang="ru-RU" dirty="0" smtClean="0"/>
              <a:t>.</a:t>
            </a:r>
            <a:endParaRPr spc="-10" dirty="0"/>
          </a:p>
          <a:p>
            <a:pPr marL="354965" indent="-342265">
              <a:lnSpc>
                <a:spcPct val="100000"/>
              </a:lnSpc>
              <a:spcBef>
                <a:spcPts val="2555"/>
              </a:spcBef>
              <a:buAutoNum type="arabicPeriod"/>
              <a:tabLst>
                <a:tab pos="354965" algn="l"/>
              </a:tabLst>
            </a:pPr>
            <a:r>
              <a:rPr lang="ru-RU" dirty="0" smtClean="0"/>
              <a:t>Спроектировано</a:t>
            </a:r>
            <a:r>
              <a:rPr spc="-65" dirty="0" smtClean="0"/>
              <a:t> </a:t>
            </a:r>
            <a:r>
              <a:rPr lang="ru-RU" dirty="0" smtClean="0"/>
              <a:t>десктопное приложение</a:t>
            </a:r>
            <a:r>
              <a:rPr spc="-10" dirty="0" smtClean="0"/>
              <a:t>.</a:t>
            </a:r>
            <a:endParaRPr spc="-10" dirty="0"/>
          </a:p>
          <a:p>
            <a:pPr marL="354965" indent="-342265">
              <a:lnSpc>
                <a:spcPct val="100000"/>
              </a:lnSpc>
              <a:spcBef>
                <a:spcPts val="2555"/>
              </a:spcBef>
              <a:buAutoNum type="arabicPeriod"/>
              <a:tabLst>
                <a:tab pos="354965" algn="l"/>
              </a:tabLst>
            </a:pPr>
            <a:r>
              <a:rPr lang="ru-RU" dirty="0" smtClean="0"/>
              <a:t>Реализовано</a:t>
            </a:r>
            <a:r>
              <a:rPr spc="-40" dirty="0" smtClean="0"/>
              <a:t> </a:t>
            </a:r>
            <a:r>
              <a:rPr lang="ru-RU" spc="-10" dirty="0" smtClean="0"/>
              <a:t>десктопное приложение</a:t>
            </a:r>
            <a:r>
              <a:rPr spc="-10" dirty="0" smtClean="0"/>
              <a:t>.</a:t>
            </a:r>
            <a:endParaRPr spc="-10" dirty="0"/>
          </a:p>
          <a:p>
            <a:pPr marL="354330" indent="-341630">
              <a:lnSpc>
                <a:spcPct val="100000"/>
              </a:lnSpc>
              <a:spcBef>
                <a:spcPts val="2560"/>
              </a:spcBef>
              <a:buAutoNum type="arabicPeriod"/>
              <a:tabLst>
                <a:tab pos="354330" algn="l"/>
              </a:tabLst>
            </a:pPr>
            <a:r>
              <a:rPr dirty="0"/>
              <a:t>Проведено</a:t>
            </a:r>
            <a:r>
              <a:rPr spc="-45" dirty="0"/>
              <a:t> </a:t>
            </a:r>
            <a:r>
              <a:rPr dirty="0"/>
              <a:t>тестирование</a:t>
            </a:r>
            <a:r>
              <a:rPr spc="-40" dirty="0"/>
              <a:t> </a:t>
            </a:r>
            <a:r>
              <a:rPr lang="ru-RU" spc="-10" dirty="0" smtClean="0"/>
              <a:t>разработанного приложения</a:t>
            </a:r>
            <a:r>
              <a:rPr spc="-10" dirty="0" smtClean="0"/>
              <a:t>.</a:t>
            </a:r>
            <a:endParaRPr spc="-10" dirty="0"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84200" rIns="0" bIns="0" rtlCol="0">
            <a:spAutoFit/>
          </a:bodyPr>
          <a:lstStyle/>
          <a:p>
            <a:pPr marL="2027555">
              <a:lnSpc>
                <a:spcPct val="100000"/>
              </a:lnSpc>
              <a:spcBef>
                <a:spcPts val="100"/>
              </a:spcBef>
            </a:pPr>
            <a:r>
              <a:rPr dirty="0"/>
              <a:t>ОСНОВНЫЕ</a:t>
            </a:r>
            <a:r>
              <a:rPr spc="-25" dirty="0"/>
              <a:t> </a:t>
            </a:r>
            <a:r>
              <a:rPr spc="-105" dirty="0"/>
              <a:t>РЕЗУЛЬТАТЫ</a:t>
            </a:r>
          </a:p>
        </p:txBody>
      </p:sp>
      <p:sp>
        <p:nvSpPr>
          <p:cNvPr id="6" name="Прямоугольник 5"/>
          <p:cNvSpPr/>
          <p:nvPr/>
        </p:nvSpPr>
        <p:spPr>
          <a:xfrm>
            <a:off x="831850" y="6378218"/>
            <a:ext cx="4425950" cy="3231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2700">
              <a:lnSpc>
                <a:spcPts val="1810"/>
              </a:lnSpc>
            </a:pPr>
            <a:r>
              <a:rPr lang="en-US" spc="-20" dirty="0">
                <a:solidFill>
                  <a:srgbClr val="767676"/>
                </a:solidFill>
                <a:latin typeface="Calibri"/>
                <a:cs typeface="Calibri"/>
              </a:rPr>
              <a:t>https://github.com/GFooX9/CourseWork2026</a:t>
            </a:r>
            <a:endParaRPr lang="ru-RU" spc="-20" dirty="0">
              <a:solidFill>
                <a:srgbClr val="767676"/>
              </a:solidFill>
              <a:latin typeface="Calibri"/>
              <a:cs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505200" y="228600"/>
            <a:ext cx="4724400" cy="1046175"/>
          </a:xfrm>
          <a:prstGeom prst="rect">
            <a:avLst/>
          </a:prstGeom>
        </p:spPr>
        <p:txBody>
          <a:bodyPr vert="horz" wrap="square" lIns="0" tIns="4842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lang="ru-RU" dirty="0" smtClean="0"/>
              <a:t>Таблица </a:t>
            </a:r>
            <a:r>
              <a:rPr lang="en-US" dirty="0" smtClean="0"/>
              <a:t>SQLite</a:t>
            </a:r>
            <a:endParaRPr spc="-105" dirty="0"/>
          </a:p>
        </p:txBody>
      </p:sp>
      <p:pic>
        <p:nvPicPr>
          <p:cNvPr id="6" name="Рисунок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75809" y="1657102"/>
            <a:ext cx="8640381" cy="3543795"/>
          </a:xfrm>
          <a:prstGeom prst="rect">
            <a:avLst/>
          </a:prstGeom>
          <a:ln w="12700">
            <a:solidFill>
              <a:schemeClr val="tx1"/>
            </a:solidFill>
          </a:ln>
        </p:spPr>
      </p:pic>
      <p:sp>
        <p:nvSpPr>
          <p:cNvPr id="7" name="Прямоугольник 6"/>
          <p:cNvSpPr/>
          <p:nvPr/>
        </p:nvSpPr>
        <p:spPr>
          <a:xfrm>
            <a:off x="831850" y="6378218"/>
            <a:ext cx="4425950" cy="3231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2700">
              <a:lnSpc>
                <a:spcPts val="1810"/>
              </a:lnSpc>
            </a:pPr>
            <a:r>
              <a:rPr lang="en-US" spc="-20" dirty="0">
                <a:solidFill>
                  <a:srgbClr val="767676"/>
                </a:solidFill>
                <a:latin typeface="Calibri"/>
                <a:cs typeface="Calibri"/>
              </a:rPr>
              <a:t>https://github.com/GFooX9/CourseWork2026</a:t>
            </a:r>
            <a:endParaRPr lang="ru-RU" spc="-20" dirty="0">
              <a:solidFill>
                <a:srgbClr val="767676"/>
              </a:solidFill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3303140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655445" y="-304800"/>
            <a:ext cx="8881109" cy="1046175"/>
          </a:xfrm>
          <a:prstGeom prst="rect">
            <a:avLst/>
          </a:prstGeom>
        </p:spPr>
        <p:txBody>
          <a:bodyPr vert="horz" wrap="square" lIns="0" tIns="484200" rIns="0" bIns="0" rtlCol="0">
            <a:spAutoFit/>
          </a:bodyPr>
          <a:lstStyle/>
          <a:p>
            <a:pPr marL="2027555">
              <a:lnSpc>
                <a:spcPct val="100000"/>
              </a:lnSpc>
            </a:pPr>
            <a:r>
              <a:rPr lang="ru-RU" dirty="0" smtClean="0"/>
              <a:t>Архитектура </a:t>
            </a:r>
            <a:r>
              <a:rPr lang="en-US" dirty="0" smtClean="0"/>
              <a:t>YOLOv11</a:t>
            </a:r>
            <a:endParaRPr spc="-105" dirty="0"/>
          </a:p>
        </p:txBody>
      </p:sp>
      <p:pic>
        <p:nvPicPr>
          <p:cNvPr id="6" name="Рисунок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55445" y="969651"/>
            <a:ext cx="8848452" cy="5395867"/>
          </a:xfrm>
          <a:prstGeom prst="rect">
            <a:avLst/>
          </a:prstGeom>
          <a:ln w="12700">
            <a:solidFill>
              <a:schemeClr val="tx1"/>
            </a:solidFill>
          </a:ln>
        </p:spPr>
      </p:pic>
      <p:sp>
        <p:nvSpPr>
          <p:cNvPr id="4" name="Прямоугольник 3"/>
          <p:cNvSpPr/>
          <p:nvPr/>
        </p:nvSpPr>
        <p:spPr>
          <a:xfrm>
            <a:off x="831850" y="6378218"/>
            <a:ext cx="4425950" cy="3231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2700">
              <a:lnSpc>
                <a:spcPts val="1810"/>
              </a:lnSpc>
            </a:pPr>
            <a:r>
              <a:rPr lang="en-US" spc="-20" dirty="0">
                <a:solidFill>
                  <a:srgbClr val="767676"/>
                </a:solidFill>
                <a:latin typeface="Calibri"/>
                <a:cs typeface="Calibri"/>
              </a:rPr>
              <a:t>https://github.com/GFooX9/CourseWork2026</a:t>
            </a:r>
            <a:endParaRPr lang="ru-RU" spc="-20" dirty="0">
              <a:solidFill>
                <a:srgbClr val="767676"/>
              </a:solidFill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5036650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505200" y="228600"/>
            <a:ext cx="4724400" cy="1046175"/>
          </a:xfrm>
          <a:prstGeom prst="rect">
            <a:avLst/>
          </a:prstGeom>
        </p:spPr>
        <p:txBody>
          <a:bodyPr vert="horz" wrap="square" lIns="0" tIns="4842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lang="ru-RU" dirty="0" smtClean="0"/>
              <a:t>Схема работы </a:t>
            </a:r>
            <a:r>
              <a:rPr lang="en-US" dirty="0" smtClean="0"/>
              <a:t>OCR</a:t>
            </a:r>
            <a:endParaRPr spc="-105" dirty="0"/>
          </a:p>
        </p:txBody>
      </p:sp>
      <p:pic>
        <p:nvPicPr>
          <p:cNvPr id="4" name="Рисунок 3"/>
          <p:cNvPicPr/>
          <p:nvPr/>
        </p:nvPicPr>
        <p:blipFill>
          <a:blip r:embed="rId2"/>
          <a:stretch>
            <a:fillRect/>
          </a:stretch>
        </p:blipFill>
        <p:spPr>
          <a:xfrm>
            <a:off x="2987675" y="1600200"/>
            <a:ext cx="5759450" cy="1224915"/>
          </a:xfrm>
          <a:prstGeom prst="rect">
            <a:avLst/>
          </a:prstGeom>
          <a:ln w="12700">
            <a:solidFill>
              <a:schemeClr val="tx1"/>
            </a:solidFill>
          </a:ln>
        </p:spPr>
      </p:pic>
      <p:pic>
        <p:nvPicPr>
          <p:cNvPr id="5" name="Рисунок 4"/>
          <p:cNvPicPr/>
          <p:nvPr/>
        </p:nvPicPr>
        <p:blipFill>
          <a:blip r:embed="rId3"/>
          <a:stretch>
            <a:fillRect/>
          </a:stretch>
        </p:blipFill>
        <p:spPr>
          <a:xfrm>
            <a:off x="2987675" y="3429000"/>
            <a:ext cx="5759450" cy="2092325"/>
          </a:xfrm>
          <a:prstGeom prst="rect">
            <a:avLst/>
          </a:prstGeom>
          <a:ln w="12700">
            <a:solidFill>
              <a:schemeClr val="tx1"/>
            </a:solidFill>
          </a:ln>
        </p:spPr>
      </p:pic>
      <p:sp>
        <p:nvSpPr>
          <p:cNvPr id="6" name="Прямоугольник 5"/>
          <p:cNvSpPr/>
          <p:nvPr/>
        </p:nvSpPr>
        <p:spPr>
          <a:xfrm>
            <a:off x="831850" y="6378218"/>
            <a:ext cx="4425950" cy="3231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2700">
              <a:lnSpc>
                <a:spcPts val="1810"/>
              </a:lnSpc>
            </a:pPr>
            <a:r>
              <a:rPr lang="en-US" spc="-20" dirty="0">
                <a:solidFill>
                  <a:srgbClr val="767676"/>
                </a:solidFill>
                <a:latin typeface="Calibri"/>
                <a:cs typeface="Calibri"/>
              </a:rPr>
              <a:t>https://github.com/GFooX9/CourseWork2026</a:t>
            </a:r>
            <a:endParaRPr lang="ru-RU" spc="-20" dirty="0">
              <a:solidFill>
                <a:srgbClr val="767676"/>
              </a:solidFill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5714958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498</TotalTime>
  <Words>421</Words>
  <Application>Microsoft Office PowerPoint</Application>
  <PresentationFormat>Широкоэкранный</PresentationFormat>
  <Paragraphs>132</Paragraphs>
  <Slides>17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17</vt:i4>
      </vt:variant>
    </vt:vector>
  </HeadingPairs>
  <TitlesOfParts>
    <vt:vector size="24" baseType="lpstr">
      <vt:lpstr>宋体</vt:lpstr>
      <vt:lpstr>Arial</vt:lpstr>
      <vt:lpstr>Arial MT</vt:lpstr>
      <vt:lpstr>Calibri</vt:lpstr>
      <vt:lpstr>等线 Light</vt:lpstr>
      <vt:lpstr>Times New Roman</vt:lpstr>
      <vt:lpstr>Office Theme</vt:lpstr>
      <vt:lpstr>Презентация PowerPoint</vt:lpstr>
      <vt:lpstr>ЦЕЛЬ И ЗАДАЧИ</vt:lpstr>
      <vt:lpstr>АКТУАЛЬНОСТЬ РАЗРАБОТКИ</vt:lpstr>
      <vt:lpstr>ОБЗОР АНАЛОГОВ</vt:lpstr>
      <vt:lpstr>ДИАГРАММА ВАРИАНТОВ ИСПОЛЬЗОВАНИЯ</vt:lpstr>
      <vt:lpstr>ДИАГРАММА КОМПОНЕНТОВ</vt:lpstr>
      <vt:lpstr>ДИАГРАММА ДЕЯТЕЛЬНОСТИ</vt:lpstr>
      <vt:lpstr>ДИАГРАММА ПОСЛЕДОВАТЕЛЬНОСТИ</vt:lpstr>
      <vt:lpstr>СРЕДСТВА РАЗРАБОТКИ</vt:lpstr>
      <vt:lpstr>ГЛАВНЫЙ ЭКРАН</vt:lpstr>
      <vt:lpstr>ЭКРАН ИДЕНТИФИКАТОРА</vt:lpstr>
      <vt:lpstr>ЭКРАН ИСТОРИИ ПРОТОКОЛОВ</vt:lpstr>
      <vt:lpstr>ФУНКЦИОНАЛЬНОЕ ТЕСТИРОВАНИЕ</vt:lpstr>
      <vt:lpstr>ОСНОВНЫЕ РЕЗУЛЬТАТЫ</vt:lpstr>
      <vt:lpstr>Таблица SQLite</vt:lpstr>
      <vt:lpstr>Архитектура YOLOv11</vt:lpstr>
      <vt:lpstr>Схема работы OCR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Виктория Одинцова</dc:creator>
  <cp:lastModifiedBy>Alexander Dobler</cp:lastModifiedBy>
  <cp:revision>21</cp:revision>
  <dcterms:created xsi:type="dcterms:W3CDTF">2026-06-03T08:53:12Z</dcterms:created>
  <dcterms:modified xsi:type="dcterms:W3CDTF">2026-06-07T18:04:18Z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2026-05-31T00:00:00Z</vt:filetime>
  </property>
  <property fmtid="{D5CDD505-2E9C-101B-9397-08002B2CF9AE}" pid="3" name="Creator">
    <vt:lpwstr>Microsoft® PowerPoint® LTSC</vt:lpwstr>
  </property>
  <property fmtid="{D5CDD505-2E9C-101B-9397-08002B2CF9AE}" pid="4" name="LastSaved">
    <vt:filetime>2026-06-03T00:00:00Z</vt:filetime>
  </property>
  <property fmtid="{D5CDD505-2E9C-101B-9397-08002B2CF9AE}" pid="5" name="Producer">
    <vt:lpwstr>Microsoft® PowerPoint® LTSC</vt:lpwstr>
  </property>
</Properties>
</file>