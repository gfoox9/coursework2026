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3" r:id="rId10"/>
    <p:sldId id="272" r:id="rId11"/>
    <p:sldId id="264" r:id="rId12"/>
    <p:sldId id="265" r:id="rId13"/>
    <p:sldId id="268" r:id="rId14"/>
    <p:sldId id="269" r:id="rId15"/>
    <p:sldId id="270" r:id="rId16"/>
    <p:sldId id="271" r:id="rId1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876" y="23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5445" y="212852"/>
            <a:ext cx="8881109" cy="1046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939" y="1974545"/>
            <a:ext cx="7115809" cy="4029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115802" y="6294450"/>
            <a:ext cx="577215" cy="4044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802129" y="1732280"/>
            <a:ext cx="9046210" cy="2190750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2033270" marR="1344930" indent="-1136015">
              <a:lnSpc>
                <a:spcPts val="5400"/>
              </a:lnSpc>
              <a:spcBef>
                <a:spcPts val="785"/>
              </a:spcBef>
            </a:pPr>
            <a:r>
              <a:rPr sz="5000" b="1" dirty="0">
                <a:latin typeface="Calibri"/>
                <a:cs typeface="Calibri"/>
              </a:rPr>
              <a:t>Разработка</a:t>
            </a:r>
            <a:r>
              <a:rPr sz="5000" b="1" spc="-165" dirty="0">
                <a:latin typeface="Calibri"/>
                <a:cs typeface="Calibri"/>
              </a:rPr>
              <a:t> </a:t>
            </a:r>
            <a:r>
              <a:rPr sz="5000" b="1" spc="-20" dirty="0">
                <a:latin typeface="Calibri"/>
                <a:cs typeface="Calibri"/>
              </a:rPr>
              <a:t>кулинарного </a:t>
            </a:r>
            <a:r>
              <a:rPr sz="5000" b="1" spc="-10" dirty="0">
                <a:latin typeface="Calibri"/>
                <a:cs typeface="Calibri"/>
              </a:rPr>
              <a:t>веб-приложения</a:t>
            </a:r>
            <a:endParaRPr sz="5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920"/>
              </a:spcBef>
            </a:pPr>
            <a:r>
              <a:rPr sz="2200" dirty="0">
                <a:latin typeface="Calibri"/>
                <a:cs typeface="Calibri"/>
              </a:rPr>
              <a:t>02.03.02</a:t>
            </a:r>
            <a:r>
              <a:rPr sz="2200" spc="-4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«Фундаментальная</a:t>
            </a:r>
            <a:r>
              <a:rPr sz="2200" spc="-3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информатика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и</a:t>
            </a:r>
            <a:r>
              <a:rPr sz="2200" spc="-2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информационные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технологии»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032459" y="4451730"/>
            <a:ext cx="3691941" cy="1031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Научный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руководитель: </a:t>
            </a:r>
            <a:r>
              <a:rPr lang="ru-RU" sz="2200" dirty="0">
                <a:latin typeface="Calibri"/>
                <a:cs typeface="Calibri"/>
              </a:rPr>
              <a:t>Доцент кафедры СП, к.ф.-м.н.</a:t>
            </a:r>
            <a:r>
              <a:rPr sz="2200" spc="-25" dirty="0" smtClean="0">
                <a:latin typeface="Calibri"/>
                <a:cs typeface="Calibri"/>
              </a:rPr>
              <a:t>, </a:t>
            </a:r>
            <a:r>
              <a:rPr lang="ru-RU" sz="2200" dirty="0" smtClean="0">
                <a:latin typeface="Calibri"/>
                <a:cs typeface="Calibri"/>
              </a:rPr>
              <a:t>Я</a:t>
            </a:r>
            <a:r>
              <a:rPr sz="2200" dirty="0" smtClean="0">
                <a:latin typeface="Calibri"/>
                <a:cs typeface="Calibri"/>
              </a:rPr>
              <a:t>.</a:t>
            </a:r>
            <a:r>
              <a:rPr lang="ru-RU" sz="2200" dirty="0" smtClean="0">
                <a:latin typeface="Calibri"/>
                <a:cs typeface="Calibri"/>
              </a:rPr>
              <a:t>А</a:t>
            </a:r>
            <a:r>
              <a:rPr sz="2200" dirty="0" smtClean="0">
                <a:latin typeface="Calibri"/>
                <a:cs typeface="Calibri"/>
              </a:rPr>
              <a:t>.</a:t>
            </a:r>
            <a:r>
              <a:rPr sz="2200" spc="-65" dirty="0" smtClean="0">
                <a:latin typeface="Calibri"/>
                <a:cs typeface="Calibri"/>
              </a:rPr>
              <a:t> </a:t>
            </a:r>
            <a:r>
              <a:rPr lang="ru-RU" sz="2200" spc="-10" dirty="0" smtClean="0">
                <a:latin typeface="Calibri"/>
                <a:cs typeface="Calibri"/>
              </a:rPr>
              <a:t>Краева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83220" y="4451730"/>
            <a:ext cx="3943350" cy="1031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Calibri"/>
                <a:cs typeface="Calibri"/>
              </a:rPr>
              <a:t>Автор:</a:t>
            </a:r>
            <a:endParaRPr sz="2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200" spc="-10" dirty="0" err="1" smtClean="0">
                <a:latin typeface="Calibri"/>
                <a:cs typeface="Calibri"/>
              </a:rPr>
              <a:t>студент</a:t>
            </a:r>
            <a:r>
              <a:rPr sz="2200" spc="-70" dirty="0" smtClean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группы</a:t>
            </a:r>
            <a:r>
              <a:rPr sz="2200" spc="-7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ЕТ-302</a:t>
            </a:r>
            <a:endParaRPr sz="2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ru-RU" sz="2200" dirty="0" smtClean="0">
                <a:latin typeface="Calibri"/>
                <a:cs typeface="Calibri"/>
              </a:rPr>
              <a:t>А.М. Доблер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526919" y="395096"/>
            <a:ext cx="7598409" cy="1092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2384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МИНИСТЕРСТВО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НАУКИ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ВЫСШЕГО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ОБРАЗОВАНИЯ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РОССИЙСКОЙ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ФЕДЕРАЦИИ</a:t>
            </a:r>
            <a:endParaRPr sz="1400">
              <a:latin typeface="Calibri"/>
              <a:cs typeface="Calibri"/>
            </a:endParaRPr>
          </a:p>
          <a:p>
            <a:pPr marR="28575" algn="ctr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Федеральное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государственное </a:t>
            </a:r>
            <a:r>
              <a:rPr sz="1400" dirty="0">
                <a:latin typeface="Calibri"/>
                <a:cs typeface="Calibri"/>
              </a:rPr>
              <a:t>автономное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образовательное учреждение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высшего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образования</a:t>
            </a:r>
            <a:endParaRPr sz="1400">
              <a:latin typeface="Calibri"/>
              <a:cs typeface="Calibri"/>
            </a:endParaRPr>
          </a:p>
          <a:p>
            <a:pPr marL="12700" marR="5080" algn="ctr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«Южно-</a:t>
            </a:r>
            <a:r>
              <a:rPr sz="1400" spc="-10" dirty="0">
                <a:latin typeface="Calibri"/>
                <a:cs typeface="Calibri"/>
              </a:rPr>
              <a:t>Уральский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государственный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университет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(национальный</a:t>
            </a:r>
            <a:r>
              <a:rPr sz="140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исследовательский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университет)» </a:t>
            </a:r>
            <a:r>
              <a:rPr sz="1400" dirty="0">
                <a:latin typeface="Calibri"/>
                <a:cs typeface="Calibri"/>
              </a:rPr>
              <a:t>Институт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естественных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точных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наук</a:t>
            </a:r>
            <a:endParaRPr sz="1400">
              <a:latin typeface="Calibri"/>
              <a:cs typeface="Calibri"/>
            </a:endParaRPr>
          </a:p>
          <a:p>
            <a:pPr marL="10160" algn="ctr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Кафедра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системного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программирования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94528" y="6070803"/>
            <a:ext cx="220408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Челябинск,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2026</a:t>
            </a:r>
            <a:r>
              <a:rPr sz="2200" spc="-8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г.</a:t>
            </a:r>
            <a:endParaRPr sz="2200"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81591" y="228600"/>
            <a:ext cx="6878955" cy="973419"/>
          </a:xfrm>
          <a:prstGeom prst="rect">
            <a:avLst/>
          </a:prstGeom>
        </p:spPr>
        <p:txBody>
          <a:bodyPr vert="horz" wrap="square" lIns="0" tIns="4153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/>
              <a:t>ЦЕЛЬ</a:t>
            </a:r>
            <a:r>
              <a:rPr spc="-105" dirty="0"/>
              <a:t> </a:t>
            </a:r>
            <a:r>
              <a:rPr dirty="0"/>
              <a:t>И</a:t>
            </a:r>
            <a:r>
              <a:rPr spc="-85" dirty="0"/>
              <a:t> </a:t>
            </a:r>
            <a:r>
              <a:rPr spc="-30" dirty="0" smtClean="0"/>
              <a:t>ЗАДАЧИ</a:t>
            </a:r>
            <a:endParaRPr spc="-20" dirty="0"/>
          </a:p>
        </p:txBody>
      </p:sp>
      <p:sp>
        <p:nvSpPr>
          <p:cNvPr id="3" name="object 3"/>
          <p:cNvSpPr txBox="1"/>
          <p:nvPr/>
        </p:nvSpPr>
        <p:spPr>
          <a:xfrm>
            <a:off x="916937" y="1433173"/>
            <a:ext cx="10208261" cy="5059718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3200" b="1" dirty="0" smtClean="0">
                <a:latin typeface="Calibri"/>
                <a:cs typeface="Calibri"/>
              </a:rPr>
              <a:t>Цель работы</a:t>
            </a:r>
          </a:p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2200" dirty="0" smtClean="0">
                <a:latin typeface="Calibri"/>
                <a:cs typeface="Calibri"/>
              </a:rPr>
              <a:t>Разработать десктопное приложение для решения задач по идентификации и детекции объектов на изображениях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lang="ru-RU" sz="2200" spc="-10" dirty="0" smtClean="0">
              <a:latin typeface="Calibri"/>
              <a:cs typeface="Calibri"/>
            </a:endParaRPr>
          </a:p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3200" b="1" spc="-10" dirty="0" smtClean="0">
                <a:latin typeface="Calibri"/>
                <a:cs typeface="Calibri"/>
              </a:rPr>
              <a:t>Задачи:</a:t>
            </a:r>
            <a:endParaRPr sz="3200" b="1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035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Провести анализ предметной области и обзор существующих решений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Сформулировать требования к десктопному приложению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70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Спроектировать</a:t>
            </a:r>
            <a:r>
              <a:rPr sz="2200" spc="-35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десктопное приложение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965" indent="-342265">
              <a:spcBef>
                <a:spcPts val="2555"/>
              </a:spcBef>
              <a:buFontTx/>
              <a:buAutoNum type="arabicPeriod"/>
              <a:tabLst>
                <a:tab pos="354965" algn="l"/>
              </a:tabLst>
            </a:pPr>
            <a:r>
              <a:rPr lang="ru-RU" sz="2200" dirty="0" smtClean="0">
                <a:latin typeface="Calibri"/>
                <a:cs typeface="Calibri"/>
              </a:rPr>
              <a:t>Реализовать</a:t>
            </a:r>
            <a:r>
              <a:rPr lang="ru-RU" sz="2200" spc="-35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десктопное приложение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Провести тестирование разработанного приложения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2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3/14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1556385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АКТУАЛЬНОСТЬ</a:t>
            </a:r>
            <a:r>
              <a:rPr spc="-130" dirty="0"/>
              <a:t> </a:t>
            </a:r>
            <a:r>
              <a:rPr spc="-35" dirty="0"/>
              <a:t>РАЗРАБОТКИ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974545"/>
            <a:ext cx="10136505" cy="28450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spc="-10" dirty="0" smtClean="0">
                <a:latin typeface="Calibri"/>
                <a:cs typeface="Calibri"/>
              </a:rPr>
              <a:t>Технологический фактор: Экспоненциальный рост визуальных данных требует автоматизации детекции в реальном времени.</a:t>
            </a:r>
            <a:r>
              <a:rPr sz="2200" spc="-25" dirty="0" smtClean="0">
                <a:latin typeface="Calibri"/>
                <a:cs typeface="Calibri"/>
              </a:rPr>
              <a:t>[</a:t>
            </a:r>
            <a:r>
              <a:rPr sz="2200" spc="-25" dirty="0">
                <a:latin typeface="Calibri"/>
                <a:cs typeface="Calibri"/>
              </a:rPr>
              <a:t>1]</a:t>
            </a:r>
            <a:endParaRPr sz="2200" dirty="0">
              <a:latin typeface="Calibri"/>
              <a:cs typeface="Calibri"/>
            </a:endParaRPr>
          </a:p>
          <a:p>
            <a:pPr marL="241300" marR="498475" indent="-228600">
              <a:lnSpc>
                <a:spcPct val="15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Прикладной фактор: Необходимость адаптации SOTA-моделей (YOLO) к узкоспециализированным задачам.</a:t>
            </a:r>
            <a:r>
              <a:rPr sz="2200" spc="-25" dirty="0" smtClean="0">
                <a:latin typeface="Calibri"/>
                <a:cs typeface="Calibri"/>
              </a:rPr>
              <a:t>[</a:t>
            </a:r>
            <a:r>
              <a:rPr sz="2200" spc="-25" dirty="0">
                <a:latin typeface="Calibri"/>
                <a:cs typeface="Calibri"/>
              </a:rPr>
              <a:t>2]</a:t>
            </a:r>
            <a:endParaRPr sz="22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2555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Инженерный фактор: Внедрение сложных ИИ-алгоритмов невозможно без создания интуитивного и автономного GUI.</a:t>
            </a:r>
            <a:r>
              <a:rPr sz="2200" spc="-25" dirty="0" smtClean="0">
                <a:latin typeface="Calibri"/>
                <a:cs typeface="Calibri"/>
              </a:rPr>
              <a:t>[</a:t>
            </a:r>
            <a:r>
              <a:rPr sz="2200" spc="-25" dirty="0">
                <a:latin typeface="Calibri"/>
                <a:cs typeface="Calibri"/>
              </a:rPr>
              <a:t>3]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67961" y="331470"/>
            <a:ext cx="3656329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ОБЗОР</a:t>
            </a:r>
            <a:r>
              <a:rPr spc="-105" dirty="0"/>
              <a:t> </a:t>
            </a:r>
            <a:r>
              <a:rPr spc="-10" dirty="0"/>
              <a:t>АНАЛОГОВ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852888"/>
              </p:ext>
            </p:extLst>
          </p:nvPr>
        </p:nvGraphicFramePr>
        <p:xfrm>
          <a:off x="311150" y="1112011"/>
          <a:ext cx="11557000" cy="50787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1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pPr marL="62039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000" b="1" spc="-10" dirty="0">
                          <a:latin typeface="Calibri"/>
                          <a:cs typeface="Calibri"/>
                        </a:rPr>
                        <a:t>Критерий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422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err="1" smtClean="0">
                          <a:latin typeface="Calibri"/>
                          <a:cs typeface="Calibri"/>
                        </a:rPr>
                        <a:t>Roboflow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114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smtClean="0">
                          <a:latin typeface="Calibri"/>
                          <a:cs typeface="Calibri"/>
                        </a:rPr>
                        <a:t>Google Lens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err="1" smtClean="0">
                          <a:latin typeface="Calibri"/>
                          <a:cs typeface="Calibri"/>
                        </a:rPr>
                        <a:t>Detectron</a:t>
                      </a:r>
                      <a:r>
                        <a:rPr lang="en-US" sz="2000" b="1" spc="-10" dirty="0" smtClean="0">
                          <a:latin typeface="Calibri"/>
                          <a:cs typeface="Calibri"/>
                        </a:rPr>
                        <a:t> 2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0769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smtClean="0">
                          <a:latin typeface="Calibri"/>
                          <a:cs typeface="Calibri"/>
                        </a:rPr>
                        <a:t>Vision Pro AI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63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Автономная локальная работа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Нет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397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Графический</a:t>
                      </a:r>
                      <a:r>
                        <a:rPr lang="ru-RU" sz="2000" spc="-10" baseline="0" dirty="0" smtClean="0">
                          <a:latin typeface="Calibri"/>
                          <a:cs typeface="Calibri"/>
                        </a:rPr>
                        <a:t> интерфейс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397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Кастомная детекция объектов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4090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Локальное</a:t>
                      </a:r>
                      <a:r>
                        <a:rPr lang="ru-RU" sz="2000" spc="-10" baseline="0" dirty="0" smtClean="0">
                          <a:latin typeface="Calibri"/>
                          <a:cs typeface="Calibri"/>
                        </a:rPr>
                        <a:t> сохранение датасетов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11368405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50" dirty="0"/>
              <a:t> </a:t>
            </a:r>
            <a:r>
              <a:rPr spc="-10" dirty="0"/>
              <a:t>ВАРИАНТОВ</a:t>
            </a:r>
            <a:r>
              <a:rPr spc="-140" dirty="0"/>
              <a:t> </a:t>
            </a:r>
            <a:r>
              <a:rPr spc="-10" dirty="0"/>
              <a:t>ИСПОЛЬЗОВАНИЯ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589" y="948546"/>
            <a:ext cx="5178821" cy="5789039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5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0105" rIns="0" bIns="0" rtlCol="0">
            <a:spAutoFit/>
          </a:bodyPr>
          <a:lstStyle/>
          <a:p>
            <a:pPr marL="1495425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ДИАГРАММА</a:t>
            </a:r>
            <a:r>
              <a:rPr spc="-155" dirty="0"/>
              <a:t> </a:t>
            </a:r>
            <a:r>
              <a:rPr spc="-10" dirty="0"/>
              <a:t>КОМПОНЕНТОВ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1259027"/>
            <a:ext cx="4953000" cy="5439918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6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33725" y="104647"/>
            <a:ext cx="59239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35" dirty="0"/>
              <a:t> </a:t>
            </a:r>
            <a:r>
              <a:rPr spc="-10" dirty="0"/>
              <a:t>ДЕЯТЕЛЬНОСТИ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678687"/>
            <a:ext cx="7295898" cy="5874513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7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658495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35" dirty="0"/>
              <a:t> </a:t>
            </a:r>
            <a:r>
              <a:rPr spc="-10" dirty="0"/>
              <a:t>ПОСЛЕДОВАТЕЛЬНОСТИ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936836"/>
            <a:ext cx="6206154" cy="5762109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8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11455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СРЕДСТВА</a:t>
            </a:r>
            <a:r>
              <a:rPr spc="-130" dirty="0"/>
              <a:t> </a:t>
            </a:r>
            <a:r>
              <a:rPr spc="-40" dirty="0"/>
              <a:t>РАЗРАБОТКИ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71600" y="1086511"/>
            <a:ext cx="10210801" cy="561243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5000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200" dirty="0" err="1" smtClean="0">
                <a:latin typeface="Calibri"/>
                <a:cs typeface="Calibri"/>
              </a:rPr>
              <a:t>JetBrains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r>
              <a:rPr lang="en-US" sz="2200" dirty="0" err="1" smtClean="0">
                <a:latin typeface="Calibri"/>
                <a:cs typeface="Calibri"/>
              </a:rPr>
              <a:t>PyCharm</a:t>
            </a:r>
            <a:r>
              <a:rPr lang="en-US" sz="2200" dirty="0" smtClean="0">
                <a:latin typeface="Calibri"/>
                <a:cs typeface="Calibri"/>
              </a:rPr>
              <a:t> – </a:t>
            </a:r>
            <a:r>
              <a:rPr lang="ru-RU" sz="2200" dirty="0" smtClean="0">
                <a:latin typeface="Calibri"/>
                <a:cs typeface="Calibri"/>
              </a:rPr>
              <a:t>среда разработки</a:t>
            </a:r>
            <a:endParaRPr lang="en-US" sz="2200" dirty="0" smtClean="0">
              <a:latin typeface="Calibri"/>
              <a:cs typeface="Calibri"/>
            </a:endParaRPr>
          </a:p>
          <a:p>
            <a:pPr marL="241300" indent="-228600">
              <a:lnSpc>
                <a:spcPct val="15000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200" dirty="0" smtClean="0">
                <a:latin typeface="Calibri"/>
                <a:cs typeface="Calibri"/>
              </a:rPr>
              <a:t>Python v3.12.5 – </a:t>
            </a:r>
            <a:r>
              <a:rPr lang="ru-RU" sz="2200" dirty="0" smtClean="0">
                <a:latin typeface="Calibri"/>
                <a:cs typeface="Calibri"/>
              </a:rPr>
              <a:t>язык программирования </a:t>
            </a:r>
            <a:endParaRPr lang="ru-RU" sz="2200" dirty="0" smtClean="0">
              <a:latin typeface="Calibri"/>
              <a:cs typeface="Calibri"/>
            </a:endParaRP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PyQt6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r>
              <a:rPr lang="en-US" sz="2200" dirty="0">
                <a:latin typeface="Calibri"/>
                <a:cs typeface="Calibri"/>
              </a:rPr>
              <a:t>v</a:t>
            </a:r>
            <a:r>
              <a:rPr lang="en-US" sz="2200" dirty="0" smtClean="0">
                <a:latin typeface="Calibri"/>
                <a:cs typeface="Calibri"/>
              </a:rPr>
              <a:t>6.7.1</a:t>
            </a:r>
            <a:r>
              <a:rPr lang="ru-RU" sz="2200" dirty="0" smtClean="0">
                <a:latin typeface="Calibri"/>
                <a:cs typeface="Calibri"/>
              </a:rPr>
              <a:t> – библиотека для построения </a:t>
            </a:r>
            <a:r>
              <a:rPr lang="en-US" sz="2200" dirty="0" smtClean="0">
                <a:latin typeface="Calibri"/>
                <a:cs typeface="Calibri"/>
              </a:rPr>
              <a:t>GUI</a:t>
            </a:r>
            <a:endParaRPr lang="ru-RU" sz="2200" dirty="0" smtClean="0">
              <a:latin typeface="Calibri"/>
              <a:cs typeface="Calibri"/>
            </a:endParaRP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en-US" sz="2200" spc="-10" dirty="0" err="1">
                <a:latin typeface="Calibri"/>
                <a:cs typeface="Calibri"/>
              </a:rPr>
              <a:t>u</a:t>
            </a:r>
            <a:r>
              <a:rPr lang="en-US" sz="2200" spc="-10" dirty="0" err="1" smtClean="0">
                <a:latin typeface="Calibri"/>
                <a:cs typeface="Calibri"/>
              </a:rPr>
              <a:t>ltralytics</a:t>
            </a:r>
            <a:r>
              <a:rPr lang="ru-RU" sz="2200" spc="-10" dirty="0" smtClean="0">
                <a:latin typeface="Calibri"/>
                <a:cs typeface="Calibri"/>
              </a:rPr>
              <a:t> </a:t>
            </a:r>
            <a:r>
              <a:rPr lang="en-US" sz="2200" spc="-10" dirty="0" smtClean="0">
                <a:latin typeface="Calibri"/>
                <a:cs typeface="Calibri"/>
              </a:rPr>
              <a:t>v8.3.40</a:t>
            </a:r>
            <a:r>
              <a:rPr lang="ru-RU" sz="2200" spc="-10" dirty="0" smtClean="0">
                <a:latin typeface="Calibri"/>
                <a:cs typeface="Calibri"/>
              </a:rPr>
              <a:t> –</a:t>
            </a:r>
            <a:r>
              <a:rPr lang="en-US" sz="2200" spc="-10" dirty="0" smtClean="0">
                <a:latin typeface="Calibri"/>
                <a:cs typeface="Calibri"/>
              </a:rPr>
              <a:t> </a:t>
            </a:r>
            <a:r>
              <a:rPr lang="ru-RU" sz="2200" spc="-10" dirty="0" smtClean="0">
                <a:latin typeface="Calibri"/>
                <a:cs typeface="Calibri"/>
              </a:rPr>
              <a:t>библиотека для работы нейросети </a:t>
            </a:r>
            <a:r>
              <a:rPr lang="en-US" sz="2200" spc="-10" dirty="0" smtClean="0">
                <a:latin typeface="Calibri"/>
                <a:cs typeface="Calibri"/>
              </a:rPr>
              <a:t>YOLOv11</a:t>
            </a:r>
            <a:endParaRPr lang="ru-RU" sz="2200" spc="-10" dirty="0" smtClean="0">
              <a:latin typeface="Calibri"/>
              <a:cs typeface="Calibri"/>
            </a:endParaRP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ru-RU" sz="2200" dirty="0" err="1" smtClean="0">
                <a:latin typeface="Calibri"/>
                <a:cs typeface="Calibri"/>
              </a:rPr>
              <a:t>EasyOCR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r>
              <a:rPr lang="en-US" sz="2200" dirty="0">
                <a:latin typeface="Calibri"/>
                <a:cs typeface="Calibri"/>
              </a:rPr>
              <a:t>v1.7.2</a:t>
            </a:r>
            <a:r>
              <a:rPr lang="ru-RU" sz="2200" dirty="0" smtClean="0">
                <a:latin typeface="Calibri"/>
                <a:cs typeface="Calibri"/>
              </a:rPr>
              <a:t> – библиотека для автономного распознавания символов</a:t>
            </a:r>
            <a:endParaRPr lang="en-US" sz="2200" dirty="0" smtClean="0">
              <a:latin typeface="Calibri"/>
              <a:cs typeface="Calibri"/>
            </a:endParaRP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en-US" sz="2200" dirty="0" err="1" smtClean="0">
                <a:latin typeface="Calibri"/>
                <a:cs typeface="Calibri"/>
              </a:rPr>
              <a:t>opencv</a:t>
            </a:r>
            <a:r>
              <a:rPr lang="en-US" sz="2200" dirty="0" smtClean="0">
                <a:latin typeface="Calibri"/>
                <a:cs typeface="Calibri"/>
              </a:rPr>
              <a:t> v4.10.0.84 – </a:t>
            </a:r>
            <a:r>
              <a:rPr lang="ru-RU" sz="2200" dirty="0" smtClean="0">
                <a:latin typeface="Calibri"/>
                <a:cs typeface="Calibri"/>
              </a:rPr>
              <a:t>библиотека для предобработки изображений</a:t>
            </a: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en-US" sz="2200" dirty="0" smtClean="0">
                <a:latin typeface="Calibri"/>
                <a:cs typeface="Calibri"/>
              </a:rPr>
              <a:t>Pillow v10.4.0 –</a:t>
            </a:r>
            <a:r>
              <a:rPr lang="ru-RU" sz="2200" dirty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библиотека для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кадрирования</a:t>
            </a:r>
            <a:r>
              <a:rPr lang="ru-RU" sz="2200" dirty="0" smtClean="0">
                <a:latin typeface="Calibri"/>
                <a:cs typeface="Calibri"/>
              </a:rPr>
              <a:t> изображениями</a:t>
            </a: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ru-RU" sz="2200" dirty="0" err="1" smtClean="0">
                <a:latin typeface="Calibri"/>
                <a:cs typeface="Calibri"/>
              </a:rPr>
              <a:t>pandas</a:t>
            </a:r>
            <a:r>
              <a:rPr lang="ru-RU" sz="2200" dirty="0" smtClean="0">
                <a:latin typeface="Calibri"/>
                <a:cs typeface="Calibri"/>
              </a:rPr>
              <a:t> v2.2.3 </a:t>
            </a:r>
            <a:r>
              <a:rPr lang="en-US" sz="2200" dirty="0" smtClean="0">
                <a:latin typeface="Calibri"/>
                <a:cs typeface="Calibri"/>
              </a:rPr>
              <a:t>–</a:t>
            </a:r>
            <a:r>
              <a:rPr lang="ru-RU" sz="2200" dirty="0" smtClean="0">
                <a:latin typeface="Calibri"/>
                <a:cs typeface="Calibri"/>
              </a:rPr>
              <a:t> библиотека для работы с массивами</a:t>
            </a: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en-US" sz="2200" dirty="0" err="1" smtClean="0">
                <a:latin typeface="Calibri"/>
                <a:cs typeface="Calibri"/>
              </a:rPr>
              <a:t>matplotlib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en-US" sz="2200" dirty="0" smtClean="0">
                <a:latin typeface="Calibri"/>
                <a:cs typeface="Calibri"/>
              </a:rPr>
              <a:t>v3.9.2 – </a:t>
            </a:r>
            <a:r>
              <a:rPr lang="ru-RU" sz="2200" dirty="0" smtClean="0">
                <a:latin typeface="Calibri"/>
                <a:cs typeface="Calibri"/>
              </a:rPr>
              <a:t>библиотека для генерация графиков</a:t>
            </a: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en-US" sz="2200" dirty="0" err="1" smtClean="0">
                <a:latin typeface="Calibri"/>
                <a:cs typeface="Calibri"/>
              </a:rPr>
              <a:t>reportlab</a:t>
            </a:r>
            <a:r>
              <a:rPr lang="en-US" sz="2200" dirty="0" smtClean="0">
                <a:latin typeface="Calibri"/>
                <a:cs typeface="Calibri"/>
              </a:rPr>
              <a:t> v4.2.5;openpyxl v3.1.5– </a:t>
            </a:r>
            <a:r>
              <a:rPr lang="ru-RU" sz="2200" dirty="0" smtClean="0">
                <a:latin typeface="Calibri"/>
                <a:cs typeface="Calibri"/>
              </a:rPr>
              <a:t>библиотеки для экспорта </a:t>
            </a:r>
            <a:r>
              <a:rPr lang="en-US" sz="2200" dirty="0" smtClean="0">
                <a:latin typeface="Calibri"/>
                <a:cs typeface="Calibri"/>
              </a:rPr>
              <a:t>pdf </a:t>
            </a:r>
            <a:r>
              <a:rPr lang="ru-RU" sz="2200" dirty="0" smtClean="0">
                <a:latin typeface="Calibri"/>
                <a:cs typeface="Calibri"/>
              </a:rPr>
              <a:t>и </a:t>
            </a:r>
            <a:r>
              <a:rPr lang="en-US" sz="2200" dirty="0" err="1" smtClean="0">
                <a:latin typeface="Calibri"/>
                <a:cs typeface="Calibri"/>
              </a:rPr>
              <a:t>exel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endParaRPr lang="ru-RU" sz="2200" dirty="0" smtClean="0">
              <a:latin typeface="Calibri"/>
              <a:cs typeface="Calibri"/>
            </a:endParaRPr>
          </a:p>
          <a:p>
            <a:pPr marL="241300" indent="-228600">
              <a:lnSpc>
                <a:spcPct val="150000"/>
              </a:lnSpc>
              <a:buFont typeface="Arial MT"/>
              <a:buChar char="•"/>
              <a:tabLst>
                <a:tab pos="241300" algn="l"/>
              </a:tabLst>
            </a:pPr>
            <a:r>
              <a:rPr lang="ru-RU" sz="2200" dirty="0" err="1" smtClean="0">
                <a:latin typeface="Calibri"/>
                <a:cs typeface="Calibri"/>
              </a:rPr>
              <a:t>SQLite</a:t>
            </a:r>
            <a:r>
              <a:rPr lang="ru-RU" sz="2200" dirty="0" smtClean="0">
                <a:latin typeface="Calibri"/>
                <a:cs typeface="Calibri"/>
              </a:rPr>
              <a:t> – встраиваемая СУБД для надежного локального хранения данных</a:t>
            </a:r>
          </a:p>
        </p:txBody>
      </p:sp>
      <p:sp>
        <p:nvSpPr>
          <p:cNvPr id="11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9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05000" y="228600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2417445">
              <a:lnSpc>
                <a:spcPct val="100000"/>
              </a:lnSpc>
              <a:spcBef>
                <a:spcPts val="100"/>
              </a:spcBef>
            </a:pPr>
            <a:r>
              <a:rPr spc="-35" dirty="0" smtClean="0"/>
              <a:t>ГЛАВН</a:t>
            </a:r>
            <a:r>
              <a:rPr lang="ru-RU" spc="-35" dirty="0" smtClean="0"/>
              <a:t>ЫЙ ЭКРАН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10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096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5445" y="212852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2417445">
              <a:lnSpc>
                <a:spcPct val="100000"/>
              </a:lnSpc>
              <a:spcBef>
                <a:spcPts val="100"/>
              </a:spcBef>
            </a:pPr>
            <a:r>
              <a:rPr lang="ru-RU" spc="-35" dirty="0" smtClean="0"/>
              <a:t>ЭКРАН ИДЕНТИФИКАТОРА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10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5445" y="212852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1211580">
              <a:lnSpc>
                <a:spcPct val="100000"/>
              </a:lnSpc>
              <a:spcBef>
                <a:spcPts val="100"/>
              </a:spcBef>
            </a:pPr>
            <a:r>
              <a:rPr lang="ru-RU" spc="-20" dirty="0" smtClean="0"/>
              <a:t>ЭКРАН ИСТОРИИ ПРОТОКОЛОВ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11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07360" y="227457"/>
            <a:ext cx="71780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ФУНКЦИОНАЛЬНОЕ</a:t>
            </a:r>
            <a:r>
              <a:rPr spc="-120" dirty="0"/>
              <a:t> </a:t>
            </a:r>
            <a:r>
              <a:rPr spc="-10" dirty="0"/>
              <a:t>ТЕСТИРОВАНИЕ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43981"/>
              </p:ext>
            </p:extLst>
          </p:nvPr>
        </p:nvGraphicFramePr>
        <p:xfrm>
          <a:off x="831850" y="821817"/>
          <a:ext cx="10515599" cy="545453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26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400" b="1" spc="-50" dirty="0">
                          <a:latin typeface="Calibri"/>
                          <a:cs typeface="Calibri"/>
                        </a:rPr>
                        <a:t>№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Название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39370" algn="ctr">
                        <a:lnSpc>
                          <a:spcPts val="1660"/>
                        </a:lnSpc>
                        <a:spcBef>
                          <a:spcPts val="840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теста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Шаги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Ожидаемый</a:t>
                      </a:r>
                      <a:endParaRPr sz="1400">
                        <a:latin typeface="Calibri"/>
                        <a:cs typeface="Calibri"/>
                      </a:endParaRPr>
                    </a:p>
                    <a:p>
                      <a:pPr marL="40640" algn="ctr">
                        <a:lnSpc>
                          <a:spcPts val="1660"/>
                        </a:lnSpc>
                        <a:spcBef>
                          <a:spcPts val="840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результат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499745">
                        <a:lnSpc>
                          <a:spcPct val="100000"/>
                        </a:lnSpc>
                      </a:pPr>
                      <a:r>
                        <a:rPr sz="1400" b="1" spc="-25" dirty="0">
                          <a:latin typeface="Calibri"/>
                          <a:cs typeface="Calibri"/>
                        </a:rPr>
                        <a:t>Тест</a:t>
                      </a:r>
                      <a:r>
                        <a:rPr sz="1400" b="1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spc="-10" dirty="0">
                          <a:latin typeface="Calibri"/>
                          <a:cs typeface="Calibri"/>
                        </a:rPr>
                        <a:t>пройден?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0261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1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Запуск комплексного ИИ-анализа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Выбрать изображение. </a:t>
                      </a:r>
                    </a:p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Задать порог точности.</a:t>
                      </a:r>
                    </a:p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Нажать «Запустить анализ».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Поток </a:t>
                      </a:r>
                      <a:r>
                        <a:rPr lang="ru-RU" sz="1400" spc="-10" dirty="0" err="1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QThread</a:t>
                      </a: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 выполняет инференс без зависания GUI</a:t>
                      </a:r>
                      <a:endParaRPr sz="1400" spc="-10" dirty="0">
                        <a:solidFill>
                          <a:schemeClr val="tx1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1046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2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ru-RU" sz="1400" dirty="0" smtClean="0"/>
                        <a:t>Нарезка фрагментов для </a:t>
                      </a:r>
                      <a:r>
                        <a:rPr lang="ru-RU" sz="1400" dirty="0" err="1" smtClean="0"/>
                        <a:t>датасета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Провести анализ растра.</a:t>
                      </a:r>
                    </a:p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Отметить</a:t>
                      </a:r>
                      <a:r>
                        <a:rPr lang="ru-RU" sz="1400" spc="-1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 </a:t>
                      </a: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нужные объекты. </a:t>
                      </a:r>
                    </a:p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Подтвердить сохранение.</a:t>
                      </a:r>
                      <a:endParaRPr sz="1400" spc="-1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dirty="0" smtClean="0"/>
                        <a:t>Программа вырезает </a:t>
                      </a:r>
                      <a:r>
                        <a:rPr lang="ru-RU" sz="1400" dirty="0" err="1" smtClean="0"/>
                        <a:t>кропы</a:t>
                      </a:r>
                      <a:r>
                        <a:rPr lang="ru-RU" sz="1400" dirty="0" smtClean="0"/>
                        <a:t> объектов и сохраняет в локальные папки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36550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3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lang="ru-RU" sz="1400" spc="-20" dirty="0" smtClean="0">
                          <a:latin typeface="+mn-lt"/>
                          <a:cs typeface="Calibri"/>
                        </a:rPr>
                        <a:t>Экспорт сводного </a:t>
                      </a:r>
                      <a:r>
                        <a:rPr lang="en-US" sz="1400" spc="-20" dirty="0" smtClean="0">
                          <a:latin typeface="+mn-lt"/>
                          <a:cs typeface="Calibri"/>
                        </a:rPr>
                        <a:t>PDF-</a:t>
                      </a:r>
                      <a:r>
                        <a:rPr lang="ru-RU" sz="1400" spc="-20" dirty="0" smtClean="0">
                          <a:latin typeface="+mn-lt"/>
                          <a:cs typeface="Calibri"/>
                        </a:rPr>
                        <a:t>отчета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Перейти в карточку протокола</a:t>
                      </a:r>
                    </a:p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Внести текстовую заметку</a:t>
                      </a:r>
                    </a:p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Нажать кнопку «Экспорт в PDF»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Генерируется многостраничный PDF-документ с водяным знаком</a:t>
                      </a:r>
                      <a:endParaRPr sz="1400" spc="-10" dirty="0">
                        <a:solidFill>
                          <a:schemeClr val="tx1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object 4"/>
          <p:cNvSpPr txBox="1"/>
          <p:nvPr/>
        </p:nvSpPr>
        <p:spPr>
          <a:xfrm>
            <a:off x="11353800" y="6422781"/>
            <a:ext cx="609600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13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</a:t>
            </a: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1179556" y="6386423"/>
            <a:ext cx="57721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1</a:t>
            </a:r>
            <a:r>
              <a:rPr lang="en-US" spc="-10" dirty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r>
              <a:rPr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/1</a:t>
            </a:r>
            <a:r>
              <a:rPr lang="en-US"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916939" y="1974545"/>
            <a:ext cx="9619615" cy="37478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Calibri"/>
              <a:buAutoNum type="arabicPeriod"/>
              <a:tabLst>
                <a:tab pos="354965" algn="l"/>
              </a:tabLst>
            </a:pPr>
            <a:r>
              <a:rPr lang="ru-RU" dirty="0" smtClean="0"/>
              <a:t>Проведен </a:t>
            </a:r>
            <a:r>
              <a:rPr lang="ru-RU" dirty="0" smtClean="0"/>
              <a:t>анализ </a:t>
            </a:r>
            <a:r>
              <a:rPr lang="ru-RU" dirty="0"/>
              <a:t>предметной области и обзор существующих решений</a:t>
            </a:r>
            <a:r>
              <a:rPr lang="ru-RU" dirty="0" smtClean="0"/>
              <a:t>.</a:t>
            </a:r>
            <a:endParaRPr spc="-10" dirty="0"/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lang="ru-RU" dirty="0" smtClean="0"/>
              <a:t>Сформулированы </a:t>
            </a:r>
            <a:r>
              <a:rPr lang="ru-RU" dirty="0"/>
              <a:t>требования к десктопному приложению</a:t>
            </a:r>
            <a:r>
              <a:rPr lang="ru-RU" dirty="0" smtClean="0"/>
              <a:t>.</a:t>
            </a:r>
            <a:endParaRPr spc="-10" dirty="0"/>
          </a:p>
          <a:p>
            <a:pPr marL="354965" indent="-342265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965" algn="l"/>
              </a:tabLst>
            </a:pPr>
            <a:r>
              <a:rPr lang="ru-RU" dirty="0" smtClean="0"/>
              <a:t>Спроектировано</a:t>
            </a:r>
            <a:r>
              <a:rPr spc="-65" dirty="0" smtClean="0"/>
              <a:t> </a:t>
            </a:r>
            <a:r>
              <a:rPr lang="ru-RU" dirty="0" smtClean="0"/>
              <a:t>десктопное приложение</a:t>
            </a:r>
            <a:r>
              <a:rPr spc="-10" dirty="0" smtClean="0"/>
              <a:t>.</a:t>
            </a:r>
            <a:endParaRPr spc="-10" dirty="0"/>
          </a:p>
          <a:p>
            <a:pPr marL="354965" indent="-342265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965" algn="l"/>
              </a:tabLst>
            </a:pPr>
            <a:r>
              <a:rPr lang="ru-RU" dirty="0" smtClean="0"/>
              <a:t>Реализовано</a:t>
            </a:r>
            <a:r>
              <a:rPr spc="-40" dirty="0" smtClean="0"/>
              <a:t> </a:t>
            </a:r>
            <a:r>
              <a:rPr lang="ru-RU" spc="-10" dirty="0" smtClean="0"/>
              <a:t>десктопное </a:t>
            </a:r>
            <a:r>
              <a:rPr lang="ru-RU" spc="-10" dirty="0" smtClean="0"/>
              <a:t>приложение</a:t>
            </a:r>
            <a:r>
              <a:rPr spc="-10" dirty="0" smtClean="0"/>
              <a:t>.</a:t>
            </a:r>
            <a:endParaRPr spc="-10" dirty="0"/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dirty="0"/>
              <a:t>Проведено</a:t>
            </a:r>
            <a:r>
              <a:rPr spc="-45" dirty="0"/>
              <a:t> </a:t>
            </a:r>
            <a:r>
              <a:rPr dirty="0"/>
              <a:t>тестирование</a:t>
            </a:r>
            <a:r>
              <a:rPr spc="-40" dirty="0"/>
              <a:t> </a:t>
            </a:r>
            <a:r>
              <a:rPr lang="ru-RU" spc="-10" dirty="0" smtClean="0"/>
              <a:t>разработанного приложения</a:t>
            </a:r>
            <a:r>
              <a:rPr spc="-10" dirty="0" smtClean="0"/>
              <a:t>.</a:t>
            </a:r>
            <a:endParaRPr spc="-10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027555">
              <a:lnSpc>
                <a:spcPct val="100000"/>
              </a:lnSpc>
              <a:spcBef>
                <a:spcPts val="100"/>
              </a:spcBef>
            </a:pPr>
            <a:r>
              <a:rPr dirty="0"/>
              <a:t>ОСНОВНЫЕ</a:t>
            </a:r>
            <a:r>
              <a:rPr spc="-25" dirty="0"/>
              <a:t> </a:t>
            </a:r>
            <a:r>
              <a:rPr spc="-105" dirty="0"/>
              <a:t>РЕЗУЛЬТАТЫ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027555">
              <a:lnSpc>
                <a:spcPct val="100000"/>
              </a:lnSpc>
              <a:spcBef>
                <a:spcPts val="100"/>
              </a:spcBef>
            </a:pPr>
            <a:r>
              <a:rPr lang="ru-RU" dirty="0" smtClean="0"/>
              <a:t>Архитектура </a:t>
            </a:r>
            <a:r>
              <a:rPr lang="en-US" dirty="0" smtClean="0"/>
              <a:t>YOLOv11</a:t>
            </a:r>
            <a:endParaRPr spc="-105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445" y="1259027"/>
            <a:ext cx="8848452" cy="539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665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05200" y="228600"/>
            <a:ext cx="4724400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ru-RU" dirty="0" smtClean="0"/>
              <a:t>Схема работы </a:t>
            </a:r>
            <a:r>
              <a:rPr lang="en-US" dirty="0" smtClean="0"/>
              <a:t>OCR</a:t>
            </a:r>
            <a:endParaRPr spc="-105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987675" y="1600200"/>
            <a:ext cx="5759450" cy="122491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2987675" y="3429000"/>
            <a:ext cx="5759450" cy="20923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71495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</TotalTime>
  <Words>482</Words>
  <Application>Microsoft Office PowerPoint</Application>
  <PresentationFormat>Широкоэкранный</PresentationFormat>
  <Paragraphs>129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Arial MT</vt:lpstr>
      <vt:lpstr>Calibri</vt:lpstr>
      <vt:lpstr>Times New Roman</vt:lpstr>
      <vt:lpstr>Office Theme</vt:lpstr>
      <vt:lpstr>Презентация PowerPoint</vt:lpstr>
      <vt:lpstr>ЦЕЛЬ И ЗАДАЧИ</vt:lpstr>
      <vt:lpstr>АКТУАЛЬНОСТЬ РАЗРАБОТКИ</vt:lpstr>
      <vt:lpstr>ОБЗОР АНАЛОГОВ</vt:lpstr>
      <vt:lpstr>ДИАГРАММА ВАРИАНТОВ ИСПОЛЬЗОВАНИЯ</vt:lpstr>
      <vt:lpstr>ДИАГРАММА КОМПОНЕНТОВ</vt:lpstr>
      <vt:lpstr>ДИАГРАММА ДЕЯТЕЛЬНОСТИ</vt:lpstr>
      <vt:lpstr>ДИАГРАММА ПОСЛЕДОВАТЕЛЬНОСТИ</vt:lpstr>
      <vt:lpstr>СРЕДСТВА РАЗРАБОТКИ</vt:lpstr>
      <vt:lpstr>ГЛАВНЫЙ ЭКРАН</vt:lpstr>
      <vt:lpstr>ЭКРАН ИДЕНТИФИКАТОРА</vt:lpstr>
      <vt:lpstr>ЭКРАН ИСТОРИИ ПРОТОКОЛОВ</vt:lpstr>
      <vt:lpstr>ФУНКЦИОНАЛЬНОЕ ТЕСТИРОВАНИЕ</vt:lpstr>
      <vt:lpstr>ОСНОВНЫЕ РЕЗУЛЬТАТЫ</vt:lpstr>
      <vt:lpstr>Архитектура YOLOv11</vt:lpstr>
      <vt:lpstr>Схема работы OCR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Виктория Одинцова</dc:creator>
  <cp:lastModifiedBy>Alexander Dobler</cp:lastModifiedBy>
  <cp:revision>11</cp:revision>
  <dcterms:created xsi:type="dcterms:W3CDTF">2026-06-03T08:53:12Z</dcterms:created>
  <dcterms:modified xsi:type="dcterms:W3CDTF">2026-06-03T18:09:21Z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2026-05-31T00:00:00Z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2026-06-03T00:00:00Z</vt:filetime>
  </property>
  <property fmtid="{D5CDD505-2E9C-101B-9397-08002B2CF9AE}" pid="5" name="Producer">
    <vt:lpwstr>Microsoft® PowerPoint® LTSC</vt:lpwstr>
  </property>
</Properties>
</file>